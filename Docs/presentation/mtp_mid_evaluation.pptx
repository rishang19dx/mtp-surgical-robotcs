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evaluation committee members and Dr. Raina. Welcome to the mid-term evaluation of my Major Technical Project, course CS399P, titled 'Sim-to-Real Medical Robotics: Interactive 3D Ultrasound Simulation &amp; Learning Platform'.</a:t>
            </a:r>
          </a:p>
          <a:p/>
          <a:p>
            <a:r>
              <a:t>Project Scope: This project tackles a foundational challenge in modern surgical robotics: robots operating in complex, uncertain, contact-rich environments require vast amounts of high-quality data to generalize. Nowhere is this more pressing than medical ultrasound, where probe contact, tissue pressure, and acoustic image formation are tightly coupled to physical dynamics.</a:t>
            </a:r>
          </a:p>
          <a:p/>
          <a:p>
            <a:r>
              <a:t>Our work addresses this via two tightly coupled goals: First, engineering a high-performance simulation platform bridging PyBullet physics to clinical 3D Slicer via OpenIGTLink with GPU acoustic ray tracing. Second, establishing an autonomous learning and benchmarking testbed for Next-Best-View reconstruction and VLA policies.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Speaker Notes:</a:t>
            </a:r>
          </a:p>
          <a:p>
            <a:r>
              <a:t>To motivate our project clearly: Why robotic ultrasound? Why can't we just collect data on physical robots like in standard warehouse manipulation?</a:t>
            </a:r>
          </a:p>
          <a:p/>
          <a:p>
            <a:r>
              <a:t>First, ultrasound is notoriously operator-dependent. A slight rotation or pressure shift completely alters image clarity. Sonographers experience severe musculoskeletal injuries from maintaining steady probe pressure for hours.</a:t>
            </a:r>
          </a:p>
          <a:p/>
          <a:p>
            <a:r>
              <a:t>Second, ultrasound represents an extreme case of contact-rich dynamics. In optical vision, if a robot pulls back 2 cm, it still sees the scene. In ultrasound, if contact drops by 1 mm, total acoustic acoustic reflection occurs and the image becomes complete black noise. Furthermore, excessive force compresses blood vessels and causes patient pain.</a:t>
            </a:r>
          </a:p>
          <a:p/>
          <a:p>
            <a:r>
              <a:t>Third, data scarcity: We cannot let an untrained neural network or RL agent explore policies on living patients. Real phantom scans are too slow to scale. Simulation is the indispensable prerequisite to generate the millions of synchronized multimodal trajectories needed to train robust medical AI models.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Speaker Notes:</a:t>
            </a:r>
          </a:p>
          <a:p>
            <a:r>
              <a:t>Here we formally divide the MTP into two distinct, interconnected tracks.</a:t>
            </a:r>
          </a:p>
          <a:p/>
          <a:p>
            <a:r>
              <a:t>Track 1 is Platform Development: Most existing ultrasound simulators are either crude game-engine demos or locked inside proprietary commercial frameworks. We require an open, high-performance platform capable of simulating 1000 Hz robot contact dynamics, coupled seamlessly with 3D Slicer—the gold standard in clinical imaging—via the OpenIGTLink medical robotics protocol, while simulating realistic ultrasound image formation on the GPU.</a:t>
            </a:r>
          </a:p>
          <a:p/>
          <a:p>
            <a:r>
              <a:t>Track 2 is Learning and Benchmarking: With this simulator in hand, we tackle the clinical task: Autonomous 3D ultrasound reconstruction. The robot must intelligently sweep the probe over patient anatomy, choosing Next-Best-Views to fill in acoustic shadows and uncertainty, laying the foundation for modern Vision-Language-Action (VLA) models and sim-to-real evaluation.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Speaker Notes:</a:t>
            </a:r>
          </a:p>
          <a:p>
            <a:r>
              <a:t>Let's position our contribution squarely against the literature.</a:t>
            </a:r>
          </a:p>
          <a:p/>
          <a:p>
            <a:r>
              <a:t>SonoGym was an important step for RL in ultrasound, but it used rigid anatomy and fake pre-rendered 2D slices. There was no true acoustic ray physics, no tissue deformation, and no 3D volumetric reconstruction.</a:t>
            </a:r>
          </a:p>
          <a:p/>
          <a:p>
            <a:r>
              <a:t>Surgical Robot Transformers (SRT &amp; SRT-H) demonstrate the incredible power of diffusion action chunking and language-conditioned surgical policies, but they tested exclusively on rigid tasks like peg-transfer. They did not incorporate contact-coupled sensing like ultrasound.</a:t>
            </a:r>
          </a:p>
          <a:p/>
          <a:p>
            <a:r>
              <a:t>Existing Slicer-robot connectors like AMBF or SlicerROS2 rely on ROS middleware. Anyone who has run high-rate robot loops with ROS2 knows that serializing large point clouds and transform trees into ROS messages introduces severe latency and jitter.</a:t>
            </a:r>
          </a:p>
          <a:p/>
          <a:p>
            <a:r>
              <a:t>Our approach departs from these baselines in three critical ways: We eliminate ROS entirely using OpenIGTLink binary sockets directly into 3D Slicer; we synthesize realistic B-mode ultrasound via GPU ray-tracing directly on clinical CT volumes; and we couple the reconstruction to an active Next-Best-View planning pipeline.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Speaker Notes:</a:t>
            </a:r>
          </a:p>
          <a:p>
            <a:r>
              <a:t>This slide presents the end-to-end system architecture of our platform.</a:t>
            </a:r>
          </a:p>
          <a:p/>
          <a:p>
            <a:r>
              <a:t>Notice how the data flows seamlessly across three decoupled tiers:</a:t>
            </a:r>
          </a:p>
          <a:p>
            <a:r>
              <a:t>At the top, we ingest patient volumetric CT scans. When the robot moves the probe in PyBullet, the exact 6-DoF probe transform is passed to our PyTorch GPU acoustic shader, which synthesizes the 2D B-mode ultrasound frame with realistic attenuation and speckle.</a:t>
            </a:r>
          </a:p>
          <a:p/>
          <a:p>
            <a:r>
              <a:t>In the middle, the synthesized B-scans feed into a 3D voxel reconstruction grid, accumulating scans and estimating regional scanning uncertainty.</a:t>
            </a:r>
          </a:p>
          <a:p/>
          <a:p>
            <a:r>
              <a:t>At the bottom is our multi-rate execution model: Robot physics must run at 1000 Hz to guarantee contact stability without jitter or penetration blow-ups. However, medical rendering in 3D Slicer only requires 60 FPS, and trajectory planning runs at 10 Hz. By decoupling these three loops across separate asynchronous threads, we maintain clinical visualization and AI planning without degrading real-time physical simulation.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Speaker Notes:</a:t>
            </a:r>
          </a:p>
          <a:p>
            <a:r>
              <a:t>This slide covers our first major accomplished milestone: The Slicer-PyBullet Surgical Bridge.</a:t>
            </a:r>
          </a:p>
          <a:p/>
          <a:p>
            <a:r>
              <a:t>Let's look at the flow diagram on top: We have PyBullet executing physics at 1000 Hz, packaging joint angles and contact force vectors into OpenIGTLink binary frames, and sending them directly over a TCP socket to 3D Slicer, which updates VTK mesh nodes at 60 FPS.</a:t>
            </a:r>
          </a:p>
          <a:p/>
          <a:p>
            <a:r>
              <a:t>Why did we make this design choice instead of standard ROS2?</a:t>
            </a:r>
          </a:p>
          <a:p>
            <a:r>
              <a:t>1. ROS2 introduces massive serialization and IPC overhead. Furthermore, hospitals and surgeons do not run Ubuntu with ROS; they run 3D Slicer on clinical workstations. OpenIGTLink is the established international standard protocol for image-guided robotic surgery.</a:t>
            </a:r>
          </a:p>
          <a:p>
            <a:r>
              <a:t>2. Rate Decoupling: Contact mechanics in physics require 1000 Hz so the probe doesn't bounce or tunnel through the body. But 3D rendering cannot and should not run at 1000 Hz. Our socket bridge downsamples cleanly to 60 FPS while keeping the physics rock solid.</a:t>
            </a:r>
          </a:p>
          <a:p>
            <a:r>
              <a:t>3. Virtual Fixtures: We implemented real-time keep-out safety zones. If a physician marks a critical blood vessel in 3D Slicer, the boundary is sent to PyBullet, which constrains the robot's Jacobian controller to prevent the probe from ever violating that zone.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Speaker Notes:</a:t>
            </a:r>
          </a:p>
          <a:p>
            <a:r>
              <a:t>Here is our second major accomplished pillar: The 3D Ultrasound Reconstruction Pipeline.</a:t>
            </a:r>
          </a:p>
          <a:p/>
          <a:p>
            <a:r>
              <a:t>Let's trace the flow diagram across the top:</a:t>
            </a:r>
          </a:p>
          <a:p>
            <a:r>
              <a:t>We start with a patient CT volume in Hounsfield units. As the Kinova arm positions the probe, PyTorch's `grid_sample` operator extracts an arbitrary 2D planar slice in GPU memory without CPU round trips.</a:t>
            </a:r>
          </a:p>
          <a:p/>
          <a:p>
            <a:r>
              <a:t>Next, our acoustic shader applies three core physical wave phenomena: First, exponential depth attenuation—ultrasound loses energy as it travels deeper. Second, acoustic impedance reflections at tissue boundaries. Third, Rayleigh scattering noise to reproduce realistic speckle patterns.</a:t>
            </a:r>
          </a:p>
          <a:p/>
          <a:p>
            <a:r>
              <a:t>These 2D B-scans then feed into our 3D Voxel Accumulator, which updates occupancy and uncertainty grids.</a:t>
            </a:r>
          </a:p>
          <a:p/>
          <a:p>
            <a:r>
              <a:t>Finally, the Next-Best-View planner evaluates which unobserved or high-uncertainty regions need to be scanned next, commanding the Kinova arm to adjust its tilt and position to fill in acoustic shadows. This provides a completely autonomous scanning loop.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Speaker Notes:</a:t>
            </a:r>
          </a:p>
          <a:p>
            <a:r>
              <a:t>This slide directly demonstrates Technical Understanding—the ability to defend our architectural choices under committee scrutiny.</a:t>
            </a:r>
          </a:p>
          <a:p/>
          <a:p>
            <a:r>
              <a:t>Decision 1: Why OpenIGTLink over ROS2? A common question is 'Why didn't you just use ROS2 topics?'. The answer is two-fold: First, clinical reality. Surgical operating rooms don't run ROS; they use OpenIGTLink-enabled devices. Second, real-time performance. Serializing large arrays into ROS2 DDS introduces noticeable jitter, whereas our direct TCP binary socket transmits state updates in under 0.5 milliseconds.</a:t>
            </a:r>
          </a:p>
          <a:p/>
          <a:p>
            <a:r>
              <a:t>Decision 2: Why Model-Based Acoustic Physics instead of a Generative AI / NeRF renderer? NeRFs and diffusion models are prone to hallucinating non-existent tissue features—a fatal flaw in healthcare. Moreover, they require retraining for every new patient anatomy. Our GPU PyTorch shader runs instantly on any patient CT scan and strictly obeys acoustic physics equations.</a:t>
            </a:r>
          </a:p>
          <a:p/>
          <a:p>
            <a:r>
              <a:t>Decision 3: Why Submodular Next-Best-View planning over conventional raster scanning? Raster scanning scans empty space and repeatedly sweeps flat areas while leaving acoustic shadows unaddressed. Our submodular entropy planner specifically tilts the probe to look around acoustic obstacles.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Speaker Notes:</a:t>
            </a:r>
          </a:p>
          <a:p>
            <a:r>
              <a:t>Turning to Future Direction: What are the concrete, feasible next steps for the remaining half of the project?</a:t>
            </a:r>
          </a:p>
          <a:p/>
          <a:p>
            <a:r>
              <a:t>Phase 1 (Weeks 9 to 11): We will train imitation learning and diffusion-based action-chunking policies (such as Continuous Flow Matching). The policy will take in multimodal tokens: the synthesized ultrasound frame, current contact forces, and high-level language prompts specifying target anatomical regions.</a:t>
            </a:r>
          </a:p>
          <a:p/>
          <a:p>
            <a:r>
              <a:t>Phase 2 (Weeks 12 to 14): We will run systematic benchmarking across diverse patient CT scans, measuring coverage completeness, scan time, and force safety margins.</a:t>
            </a:r>
          </a:p>
          <a:p/>
          <a:p>
            <a:r>
              <a:t>Phase 3 (Weeks 15 to 16): Hardware Sim-to-Real transfer. Because our simulation models physical contact dynamics and ray-traced acoustics, we will validate the policy on a physical robot scanning a silicone phantom to demonstrate real-world applicability.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Speaker Notes:</a:t>
            </a:r>
          </a:p>
          <a:p>
            <a:r>
              <a:t>To conclude our mid-term evaluation:</a:t>
            </a:r>
          </a:p>
          <a:p>
            <a:r>
              <a:t>Over the past two months, we have built the core foundational infrastructure for contact-rich medical robotics simulation.</a:t>
            </a:r>
          </a:p>
          <a:p>
            <a:r>
              <a:t>We have proven that OpenIGTLink provides an ultra-low latency, hospital-standard link directly into 3D Slicer, completely superseding heavy ROS middleware. We have developed a GPU-accelerated acoustic physics shader that replicates real ultrasound wave mechanics without black-box neural hallucinations. And we have established an active Next-Best-View planning loop that automates volumetric scanning.</a:t>
            </a:r>
          </a:p>
          <a:p/>
          <a:p>
            <a:r>
              <a:t>With this foundation fully operational, we are on track to train multimodal VLA policies and benchmark sim-to-real transfer over the coming weeks.</a:t>
            </a:r>
          </a:p>
          <a:p/>
          <a:p>
            <a:r>
              <a:t>Thank you for your time, and I am now ready to take any questions and discuss your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8C1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731520"/>
            <a:ext cx="10728655" cy="5394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005840"/>
            <a:ext cx="10058400" cy="2011680"/>
          </a:xfrm>
          <a:prstGeom prst="rect">
            <a:avLst/>
          </a:prstGeom>
          <a:noFill/>
        </p:spPr>
        <p:txBody>
          <a:bodyPr wrap="square">
            <a:spAutoFit/>
          </a:bodyPr>
          <a:lstStyle/>
          <a:p>
            <a:pPr>
              <a:defRPr sz="1300" b="1">
                <a:solidFill>
                  <a:srgbClr val="8C1D22"/>
                </a:solidFill>
              </a:defRPr>
            </a:pPr>
            <a:r>
              <a:t>CS399P: Major Technical Project | Mid-Term Evaluation</a:t>
            </a:r>
          </a:p>
          <a:p>
            <a:pPr>
              <a:spcBef>
                <a:spcPts val="800"/>
              </a:spcBef>
              <a:defRPr sz="3000" b="1">
                <a:solidFill>
                  <a:srgbClr val="0F172A"/>
                </a:solidFill>
              </a:defRPr>
            </a:pPr>
            <a:r>
              <a:t>Sim-to-Real Medical Robotics:</a:t>
            </a:r>
          </a:p>
          <a:p>
            <a:pPr>
              <a:defRPr sz="2200" b="1">
                <a:solidFill>
                  <a:srgbClr val="0284C7"/>
                </a:solidFill>
              </a:defRPr>
            </a:pPr>
            <a:r>
              <a:t>Interactive 3D Ultrasound Simulation &amp; Learning Platform</a:t>
            </a:r>
          </a:p>
          <a:p>
            <a:pPr>
              <a:spcBef>
                <a:spcPts val="600"/>
              </a:spcBef>
              <a:defRPr sz="1300">
                <a:solidFill>
                  <a:srgbClr val="475569"/>
                </a:solidFill>
              </a:defRPr>
            </a:pPr>
            <a:r>
              <a:t>A physics-grounded, hospital-grade simulation environment for autonomous ultrasound scanning and VLA benchmarking</a:t>
            </a:r>
          </a:p>
        </p:txBody>
      </p:sp>
      <p:sp>
        <p:nvSpPr>
          <p:cNvPr id="6" name="Rounded Rectangle 5"/>
          <p:cNvSpPr/>
          <p:nvPr/>
        </p:nvSpPr>
        <p:spPr>
          <a:xfrm>
            <a:off x="1097280" y="3291840"/>
            <a:ext cx="4846320" cy="10972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3383280"/>
            <a:ext cx="4480560" cy="914400"/>
          </a:xfrm>
          <a:prstGeom prst="rect">
            <a:avLst/>
          </a:prstGeom>
          <a:noFill/>
        </p:spPr>
        <p:txBody>
          <a:bodyPr wrap="square">
            <a:spAutoFit/>
          </a:bodyPr>
          <a:lstStyle/>
          <a:p>
            <a:pPr>
              <a:defRPr sz="1100" b="1">
                <a:solidFill>
                  <a:srgbClr val="8C1D22"/>
                </a:solidFill>
              </a:defRPr>
            </a:pPr>
            <a:r>
              <a:t>OBJECTIVE 1: SIMULATION PLATFORM</a:t>
            </a:r>
          </a:p>
          <a:p>
            <a:pPr>
              <a:defRPr sz="1100">
                <a:solidFill>
                  <a:srgbClr val="475569"/>
                </a:solidFill>
              </a:defRPr>
            </a:pPr>
            <a:r>
              <a:t>PyBullet 1000 Hz dynamics coupled with 3D Slicer via OpenIGTLink, GPU CT acoustic reslicing, and virtual safety fixtures.</a:t>
            </a:r>
          </a:p>
        </p:txBody>
      </p:sp>
      <p:sp>
        <p:nvSpPr>
          <p:cNvPr id="8" name="Rounded Rectangle 7"/>
          <p:cNvSpPr/>
          <p:nvPr/>
        </p:nvSpPr>
        <p:spPr>
          <a:xfrm>
            <a:off x="6217920" y="3291840"/>
            <a:ext cx="4846320" cy="10972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3383280"/>
            <a:ext cx="4480560" cy="914400"/>
          </a:xfrm>
          <a:prstGeom prst="rect">
            <a:avLst/>
          </a:prstGeom>
          <a:noFill/>
        </p:spPr>
        <p:txBody>
          <a:bodyPr wrap="square">
            <a:spAutoFit/>
          </a:bodyPr>
          <a:lstStyle/>
          <a:p>
            <a:pPr>
              <a:defRPr sz="1100" b="1">
                <a:solidFill>
                  <a:srgbClr val="0284C7"/>
                </a:solidFill>
              </a:defRPr>
            </a:pPr>
            <a:r>
              <a:t>OBJECTIVE 2: LEARNING &amp; BENCHMARKING</a:t>
            </a:r>
          </a:p>
          <a:p>
            <a:pPr>
              <a:defRPr sz="1100">
                <a:solidFill>
                  <a:srgbClr val="475569"/>
                </a:solidFill>
              </a:defRPr>
            </a:pPr>
            <a:r>
              <a:t>Active Next-Best-View planning, multimodal VLA &amp; diffusion policies, and sim-to-real transfer with tissue-mimicking phantoms.</a:t>
            </a:r>
          </a:p>
        </p:txBody>
      </p:sp>
      <p:sp>
        <p:nvSpPr>
          <p:cNvPr id="10" name="TextBox 9"/>
          <p:cNvSpPr txBox="1"/>
          <p:nvPr/>
        </p:nvSpPr>
        <p:spPr>
          <a:xfrm>
            <a:off x="1097280" y="4754880"/>
            <a:ext cx="9966960" cy="1097280"/>
          </a:xfrm>
          <a:prstGeom prst="rect">
            <a:avLst/>
          </a:prstGeom>
          <a:noFill/>
        </p:spPr>
        <p:txBody>
          <a:bodyPr wrap="square">
            <a:spAutoFit/>
          </a:bodyPr>
          <a:lstStyle/>
          <a:p>
            <a:pPr>
              <a:defRPr sz="1300" b="1">
                <a:solidFill>
                  <a:srgbClr val="0F172A"/>
                </a:solidFill>
              </a:defRPr>
            </a:pPr>
            <a:r>
              <a:t>Candidate: Rishang Yadav (Roll No: B23173)   |   Supervisor: Dr. Deepak Raina</a:t>
            </a:r>
          </a:p>
          <a:p>
            <a:pPr>
              <a:defRPr sz="1100">
                <a:solidFill>
                  <a:srgbClr val="475569"/>
                </a:solidFill>
              </a:defRPr>
            </a:pPr>
            <a:r>
              <a:t>School of Computing and Electrical Engineering (SCEE), Indian Institute of Technology Mandi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FEE2E2"/>
          </a:solidFill>
          <a:ln w="12700">
            <a:solidFill>
              <a:srgbClr val="8C1D2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8C1D22"/>
                </a:solidFill>
              </a:defRPr>
            </a:pPr>
            <a:r>
              <a:t>1. PROBLEM &amp; BACKGROUND</a:t>
            </a:r>
          </a:p>
        </p:txBody>
      </p:sp>
      <p:sp>
        <p:nvSpPr>
          <p:cNvPr id="4" name="TextBox 3"/>
          <p:cNvSpPr txBox="1"/>
          <p:nvPr/>
        </p:nvSpPr>
        <p:spPr>
          <a:xfrm>
            <a:off x="731520" y="731520"/>
            <a:ext cx="10698480" cy="548640"/>
          </a:xfrm>
          <a:prstGeom prst="rect">
            <a:avLst/>
          </a:prstGeom>
          <a:noFill/>
        </p:spPr>
        <p:txBody>
          <a:bodyPr wrap="square" lIns="0" rIns="0" tIns="0" bIns="0">
            <a:spAutoFit/>
          </a:bodyPr>
          <a:lstStyle/>
          <a:p>
            <a:pPr>
              <a:defRPr sz="2200" b="1">
                <a:solidFill>
                  <a:srgbClr val="0F172A"/>
                </a:solidFill>
              </a:defRPr>
            </a:pPr>
            <a:r>
              <a:t>Clinical Motivation: The Robotic Ultrasound Dilemma</a:t>
            </a:r>
          </a:p>
          <a:p>
            <a:pPr>
              <a:defRPr sz="1200" b="0">
                <a:solidFill>
                  <a:srgbClr val="475569"/>
                </a:solidFill>
              </a:defRPr>
            </a:pPr>
            <a:r>
              <a:t>Why autonomous ultrasound requires a physics-grounded simulation foundation</a:t>
            </a:r>
          </a:p>
        </p:txBody>
      </p:sp>
      <p:sp>
        <p:nvSpPr>
          <p:cNvPr id="5" name="Rounded Rectangle 4"/>
          <p:cNvSpPr/>
          <p:nvPr/>
        </p:nvSpPr>
        <p:spPr>
          <a:xfrm>
            <a:off x="731520" y="1554480"/>
            <a:ext cx="3328416"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2962656" cy="3566160"/>
          </a:xfrm>
          <a:prstGeom prst="rect">
            <a:avLst/>
          </a:prstGeom>
          <a:noFill/>
        </p:spPr>
        <p:txBody>
          <a:bodyPr wrap="square">
            <a:spAutoFit/>
          </a:bodyPr>
          <a:lstStyle/>
          <a:p>
            <a:pPr>
              <a:defRPr sz="1300" b="1">
                <a:solidFill>
                  <a:srgbClr val="8C1D22"/>
                </a:solidFill>
              </a:defRPr>
            </a:pPr>
            <a:r>
              <a:t>OPERATOR DEPENDENT</a:t>
            </a:r>
          </a:p>
          <a:p>
            <a:pPr>
              <a:spcBef>
                <a:spcPts val="400"/>
              </a:spcBef>
              <a:defRPr sz="1500" b="1">
                <a:solidFill>
                  <a:srgbClr val="0F172A"/>
                </a:solidFill>
              </a:defRPr>
            </a:pPr>
            <a:r>
              <a:t>High Cognitive &amp; Physical Load</a:t>
            </a:r>
          </a:p>
          <a:p>
            <a:br/>
            <a:pPr>
              <a:defRPr sz="1100">
                <a:solidFill>
                  <a:srgbClr val="475569"/>
                </a:solidFill>
              </a:defRPr>
            </a:pPr>
            <a:r>
              <a:t>• Sonography requires subtle, continuous adjustments of 6-DoF probe orientation, tilt, and acoustic gel coupling.</a:t>
            </a:r>
          </a:p>
          <a:p>
            <a:br/>
            <a:pPr>
              <a:defRPr sz="1100">
                <a:solidFill>
                  <a:srgbClr val="475569"/>
                </a:solidFill>
              </a:defRPr>
            </a:pPr>
            <a:r>
              <a:t>• Over 80% of sonographers report work-related musculoskeletal disorders (WRMSD) due to sustained contact force application.</a:t>
            </a:r>
          </a:p>
          <a:p>
            <a:br/>
            <a:pPr>
              <a:defRPr sz="1100">
                <a:solidFill>
                  <a:srgbClr val="475569"/>
                </a:solidFill>
              </a:defRPr>
            </a:pPr>
            <a:r>
              <a:t>• Diagnostic accuracy varies significantly with practitioner experience and fatigue.</a:t>
            </a:r>
          </a:p>
        </p:txBody>
      </p:sp>
      <p:sp>
        <p:nvSpPr>
          <p:cNvPr id="7" name="Rounded Rectangle 6"/>
          <p:cNvSpPr/>
          <p:nvPr/>
        </p:nvSpPr>
        <p:spPr>
          <a:xfrm>
            <a:off x="4425696" y="1554480"/>
            <a:ext cx="3328416"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8576" y="1737360"/>
            <a:ext cx="2962656" cy="3566160"/>
          </a:xfrm>
          <a:prstGeom prst="rect">
            <a:avLst/>
          </a:prstGeom>
          <a:noFill/>
        </p:spPr>
        <p:txBody>
          <a:bodyPr wrap="square">
            <a:spAutoFit/>
          </a:bodyPr>
          <a:lstStyle/>
          <a:p>
            <a:pPr>
              <a:defRPr sz="1300" b="1">
                <a:solidFill>
                  <a:srgbClr val="0284C7"/>
                </a:solidFill>
              </a:defRPr>
            </a:pPr>
            <a:r>
              <a:t>COUPLED DYNAMICS</a:t>
            </a:r>
          </a:p>
          <a:p>
            <a:pPr>
              <a:spcBef>
                <a:spcPts val="400"/>
              </a:spcBef>
              <a:defRPr sz="1500" b="1">
                <a:solidFill>
                  <a:srgbClr val="0F172A"/>
                </a:solidFill>
              </a:defRPr>
            </a:pPr>
            <a:r>
              <a:t>Perception Coupled to Force</a:t>
            </a:r>
          </a:p>
          <a:p>
            <a:br/>
            <a:pPr>
              <a:defRPr sz="1100">
                <a:solidFill>
                  <a:srgbClr val="475569"/>
                </a:solidFill>
              </a:defRPr>
            </a:pPr>
            <a:r>
              <a:t>• Unlike optical camera robotics, an ultrasound probe sees NOTHING without continuous physical contact with skin.</a:t>
            </a:r>
          </a:p>
          <a:p>
            <a:br/>
            <a:pPr>
              <a:defRPr sz="1100">
                <a:solidFill>
                  <a:srgbClr val="475569"/>
                </a:solidFill>
              </a:defRPr>
            </a:pPr>
            <a:r>
              <a:t>• Too little force: acoustic acoustic dropouts and massive shadow artifacts.</a:t>
            </a:r>
          </a:p>
          <a:p>
            <a:br/>
            <a:pPr>
              <a:defRPr sz="1100">
                <a:solidFill>
                  <a:srgbClr val="475569"/>
                </a:solidFill>
              </a:defRPr>
            </a:pPr>
            <a:r>
              <a:t>• Too much force: tissue deformation, patient discomfort, and internal organ displacement.</a:t>
            </a:r>
          </a:p>
        </p:txBody>
      </p:sp>
      <p:sp>
        <p:nvSpPr>
          <p:cNvPr id="9" name="Rounded Rectangle 8"/>
          <p:cNvSpPr/>
          <p:nvPr/>
        </p:nvSpPr>
        <p:spPr>
          <a:xfrm>
            <a:off x="8119872" y="1554480"/>
            <a:ext cx="3328416"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1737360"/>
            <a:ext cx="2962656" cy="3566160"/>
          </a:xfrm>
          <a:prstGeom prst="rect">
            <a:avLst/>
          </a:prstGeom>
          <a:noFill/>
        </p:spPr>
        <p:txBody>
          <a:bodyPr wrap="square">
            <a:spAutoFit/>
          </a:bodyPr>
          <a:lstStyle/>
          <a:p>
            <a:pPr>
              <a:defRPr sz="1300" b="1">
                <a:solidFill>
                  <a:srgbClr val="D97706"/>
                </a:solidFill>
              </a:defRPr>
            </a:pPr>
            <a:r>
              <a:t>DATA SCARCITY</a:t>
            </a:r>
          </a:p>
          <a:p>
            <a:pPr>
              <a:spcBef>
                <a:spcPts val="400"/>
              </a:spcBef>
              <a:defRPr sz="1500" b="1">
                <a:solidFill>
                  <a:srgbClr val="0F172A"/>
                </a:solidFill>
              </a:defRPr>
            </a:pPr>
            <a:r>
              <a:t>Sim-to-Real is Mandatory</a:t>
            </a:r>
          </a:p>
          <a:p>
            <a:br/>
            <a:pPr>
              <a:defRPr sz="1100">
                <a:solidFill>
                  <a:srgbClr val="475569"/>
                </a:solidFill>
              </a:defRPr>
            </a:pPr>
            <a:r>
              <a:t>• Reinforcement learning or trial-and-error training directly on human patients is ethically and practically impossible.</a:t>
            </a:r>
          </a:p>
          <a:p>
            <a:br/>
            <a:pPr>
              <a:defRPr sz="1100">
                <a:solidFill>
                  <a:srgbClr val="475569"/>
                </a:solidFill>
              </a:defRPr>
            </a:pPr>
            <a:r>
              <a:t>• Real-world robot teleoperation on physical silicone phantoms is slow, costly, and lacks anatomical diversity.</a:t>
            </a:r>
          </a:p>
          <a:p>
            <a:br/>
            <a:pPr>
              <a:defRPr sz="1100">
                <a:solidFill>
                  <a:srgbClr val="475569"/>
                </a:solidFill>
              </a:defRPr>
            </a:pPr>
            <a:r>
              <a:t>• A physics-faithful simulator is the ONLY viable pipeline to generate millions of paired multimodal training sweeps.</a:t>
            </a:r>
          </a:p>
        </p:txBody>
      </p:sp>
      <p:sp>
        <p:nvSpPr>
          <p:cNvPr id="11" name="Rounded Rectangle 10"/>
          <p:cNvSpPr/>
          <p:nvPr/>
        </p:nvSpPr>
        <p:spPr>
          <a:xfrm>
            <a:off x="731520" y="5669280"/>
            <a:ext cx="10728655" cy="7315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715000"/>
            <a:ext cx="10332720" cy="640080"/>
          </a:xfrm>
          <a:prstGeom prst="rect">
            <a:avLst/>
          </a:prstGeom>
          <a:noFill/>
        </p:spPr>
        <p:txBody>
          <a:bodyPr wrap="square">
            <a:spAutoFit/>
          </a:bodyPr>
          <a:lstStyle/>
          <a:p>
            <a:pPr>
              <a:defRPr sz="1200" b="1">
                <a:solidFill>
                  <a:srgbClr val="0F172A"/>
                </a:solidFill>
              </a:defRPr>
            </a:pPr>
            <a:r>
              <a:t>Core Takeaway: To train AI policies for healthcare, simulation must model contact forces, soft-tissue compliance, and acoustic wave formation simultaneously.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FEE2E2"/>
          </a:solidFill>
          <a:ln w="12700">
            <a:solidFill>
              <a:srgbClr val="8C1D2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8C1D22"/>
                </a:solidFill>
              </a:defRPr>
            </a:pPr>
            <a:r>
              <a:t>1. PROBLEM &amp; BACKGROUND</a:t>
            </a:r>
          </a:p>
        </p:txBody>
      </p:sp>
      <p:sp>
        <p:nvSpPr>
          <p:cNvPr id="4" name="TextBox 3"/>
          <p:cNvSpPr txBox="1"/>
          <p:nvPr/>
        </p:nvSpPr>
        <p:spPr>
          <a:xfrm>
            <a:off x="731520" y="731520"/>
            <a:ext cx="10698480" cy="548640"/>
          </a:xfrm>
          <a:prstGeom prst="rect">
            <a:avLst/>
          </a:prstGeom>
          <a:noFill/>
        </p:spPr>
        <p:txBody>
          <a:bodyPr wrap="square" lIns="0" rIns="0" tIns="0" bIns="0">
            <a:spAutoFit/>
          </a:bodyPr>
          <a:lstStyle/>
          <a:p>
            <a:pPr>
              <a:defRPr sz="2200" b="1">
                <a:solidFill>
                  <a:srgbClr val="0F172A"/>
                </a:solidFill>
              </a:defRPr>
            </a:pPr>
            <a:r>
              <a:t>Project Objectives: Platform Development &amp; AI Benchmarking</a:t>
            </a:r>
          </a:p>
          <a:p>
            <a:pPr>
              <a:defRPr sz="1200" b="0">
                <a:solidFill>
                  <a:srgbClr val="475569"/>
                </a:solidFill>
              </a:defRPr>
            </a:pPr>
            <a:r>
              <a:t>Decomposing the MTP into two synergistic technical milestones</a:t>
            </a:r>
          </a:p>
        </p:txBody>
      </p:sp>
      <p:sp>
        <p:nvSpPr>
          <p:cNvPr id="5" name="Rounded Rectangle 4"/>
          <p:cNvSpPr/>
          <p:nvPr/>
        </p:nvSpPr>
        <p:spPr>
          <a:xfrm>
            <a:off x="731520" y="1645920"/>
            <a:ext cx="5175504"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626864" cy="4023360"/>
          </a:xfrm>
          <a:prstGeom prst="rect">
            <a:avLst/>
          </a:prstGeom>
          <a:noFill/>
        </p:spPr>
        <p:txBody>
          <a:bodyPr wrap="square">
            <a:spAutoFit/>
          </a:bodyPr>
          <a:lstStyle/>
          <a:p>
            <a:pPr>
              <a:defRPr sz="1200" b="1">
                <a:solidFill>
                  <a:srgbClr val="8C1D22"/>
                </a:solidFill>
              </a:defRPr>
            </a:pPr>
            <a:r>
              <a:t>OBJECTIVE 1</a:t>
            </a:r>
          </a:p>
          <a:p>
            <a:pPr>
              <a:spcBef>
                <a:spcPts val="400"/>
              </a:spcBef>
              <a:defRPr sz="1800" b="1">
                <a:solidFill>
                  <a:srgbClr val="0F172A"/>
                </a:solidFill>
              </a:defRPr>
            </a:pPr>
            <a:r>
              <a:t>Simulation Platform Development</a:t>
            </a:r>
          </a:p>
          <a:p>
            <a:pPr>
              <a:spcBef>
                <a:spcPts val="800"/>
              </a:spcBef>
              <a:defRPr sz="1100">
                <a:solidFill>
                  <a:srgbClr val="475569"/>
                </a:solidFill>
              </a:defRPr>
            </a:pPr>
            <a:r>
              <a:t>Building a clinical-grade, physics-accurate simulation environment:</a:t>
            </a:r>
          </a:p>
          <a:p>
            <a:br/>
            <a:pPr>
              <a:defRPr sz="1100">
                <a:solidFill>
                  <a:srgbClr val="1E293B"/>
                </a:solidFill>
              </a:defRPr>
            </a:pPr>
            <a:r>
              <a:t>• High-Frequency Dynamics: 1000 Hz PyBullet physics simulating a Kinova Gen3 7-DoF arm with realistic joint friction, limits, and soft tissue contact.</a:t>
            </a:r>
          </a:p>
          <a:p>
            <a:br/>
            <a:pPr>
              <a:defRPr sz="1100">
                <a:solidFill>
                  <a:srgbClr val="1E293B"/>
                </a:solidFill>
              </a:defRPr>
            </a:pPr>
            <a:r>
              <a:t>• Medical Suite Integration: Direct OpenIGTLink binary link into 3D Slicer at 60 FPS without middleware or ROS overhead.</a:t>
            </a:r>
          </a:p>
          <a:p>
            <a:br/>
            <a:pPr>
              <a:defRPr sz="1100">
                <a:solidFill>
                  <a:srgbClr val="1E293B"/>
                </a:solidFill>
              </a:defRPr>
            </a:pPr>
            <a:r>
              <a:t>• GPU Acoustic Wave Physics: PyTorch GPU ray reslicing on patient CT scans modeling acoustic attenuation, impedance reflections, and speckle noise.</a:t>
            </a:r>
          </a:p>
          <a:p>
            <a:br/>
            <a:pPr>
              <a:defRPr sz="1100">
                <a:solidFill>
                  <a:srgbClr val="1E293B"/>
                </a:solidFill>
              </a:defRPr>
            </a:pPr>
            <a:r>
              <a:t>• Virtual Safety Fixtures: Enforcing keep-out safety zones and contact force boundaries to guarantee patient safety constraints.</a:t>
            </a:r>
          </a:p>
        </p:txBody>
      </p:sp>
      <p:sp>
        <p:nvSpPr>
          <p:cNvPr id="7" name="Rounded Rectangle 6"/>
          <p:cNvSpPr/>
          <p:nvPr/>
        </p:nvSpPr>
        <p:spPr>
          <a:xfrm>
            <a:off x="6278270" y="1645920"/>
            <a:ext cx="5175504"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52590" y="1828800"/>
            <a:ext cx="4626864" cy="4023360"/>
          </a:xfrm>
          <a:prstGeom prst="rect">
            <a:avLst/>
          </a:prstGeom>
          <a:noFill/>
        </p:spPr>
        <p:txBody>
          <a:bodyPr wrap="square">
            <a:spAutoFit/>
          </a:bodyPr>
          <a:lstStyle/>
          <a:p>
            <a:pPr>
              <a:defRPr sz="1200" b="1">
                <a:solidFill>
                  <a:srgbClr val="0284C7"/>
                </a:solidFill>
              </a:defRPr>
            </a:pPr>
            <a:r>
              <a:t>OBJECTIVE 2</a:t>
            </a:r>
          </a:p>
          <a:p>
            <a:pPr>
              <a:spcBef>
                <a:spcPts val="400"/>
              </a:spcBef>
              <a:defRPr sz="1800" b="1">
                <a:solidFill>
                  <a:srgbClr val="0F172A"/>
                </a:solidFill>
              </a:defRPr>
            </a:pPr>
            <a:r>
              <a:t>Learning &amp; Benchmarking Suite</a:t>
            </a:r>
          </a:p>
          <a:p>
            <a:pPr>
              <a:spcBef>
                <a:spcPts val="800"/>
              </a:spcBef>
              <a:defRPr sz="1100">
                <a:solidFill>
                  <a:srgbClr val="475569"/>
                </a:solidFill>
              </a:defRPr>
            </a:pPr>
            <a:r>
              <a:t>Developing autonomous AI policies and benchmarking sim-to-real transfer:</a:t>
            </a:r>
          </a:p>
          <a:p>
            <a:br/>
            <a:pPr>
              <a:defRPr sz="1100">
                <a:solidFill>
                  <a:srgbClr val="1E293B"/>
                </a:solidFill>
              </a:defRPr>
            </a:pPr>
            <a:r>
              <a:t>• Active 3D Reconstruction: Autonomous volumetric scanning via submodular Next-Best-View (NBV) planning to maximize volume coverage with minimal sweeps.</a:t>
            </a:r>
          </a:p>
          <a:p>
            <a:br/>
            <a:pPr>
              <a:defRPr sz="1100">
                <a:solidFill>
                  <a:srgbClr val="1E293B"/>
                </a:solidFill>
              </a:defRPr>
            </a:pPr>
            <a:r>
              <a:t>• Multimodal VLA Policies: Benchmarking Vision-Language-Action models and diffusion action-chunking conditioned on acoustic images, force, and text instructions.</a:t>
            </a:r>
          </a:p>
          <a:p>
            <a:br/>
            <a:pPr>
              <a:defRPr sz="1100">
                <a:solidFill>
                  <a:srgbClr val="1E293B"/>
                </a:solidFill>
              </a:defRPr>
            </a:pPr>
            <a:r>
              <a:t>• Sim-to-Real Transferability: Validating policy transfer from virtual patient CTs to physical silicone phantoms and robotic hardware.</a:t>
            </a:r>
          </a:p>
          <a:p>
            <a:br/>
            <a:pPr>
              <a:defRPr sz="1100">
                <a:solidFill>
                  <a:srgbClr val="1E293B"/>
                </a:solidFill>
              </a:defRPr>
            </a:pPr>
            <a:r>
              <a:t>• Benchmarking Suite: Establishing standardized metrics: scan duration, acoustic coverage, reconstruction fidelity, and contact force safety.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FEE2E2"/>
          </a:solidFill>
          <a:ln w="12700">
            <a:solidFill>
              <a:srgbClr val="8C1D2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8C1D22"/>
                </a:solidFill>
              </a:defRPr>
            </a:pPr>
            <a:r>
              <a:t>2. LITERATURE SURVEY</a:t>
            </a:r>
          </a:p>
        </p:txBody>
      </p:sp>
      <p:sp>
        <p:nvSpPr>
          <p:cNvPr id="4" name="TextBox 3"/>
          <p:cNvSpPr txBox="1"/>
          <p:nvPr/>
        </p:nvSpPr>
        <p:spPr>
          <a:xfrm>
            <a:off x="731520" y="731520"/>
            <a:ext cx="10698480" cy="548640"/>
          </a:xfrm>
          <a:prstGeom prst="rect">
            <a:avLst/>
          </a:prstGeom>
          <a:noFill/>
        </p:spPr>
        <p:txBody>
          <a:bodyPr wrap="square" lIns="0" rIns="0" tIns="0" bIns="0">
            <a:spAutoFit/>
          </a:bodyPr>
          <a:lstStyle/>
          <a:p>
            <a:pPr>
              <a:defRPr sz="2200" b="1">
                <a:solidFill>
                  <a:srgbClr val="0F172A"/>
                </a:solidFill>
              </a:defRPr>
            </a:pPr>
            <a:r>
              <a:t>Prior Work &amp; Baseline Limitations</a:t>
            </a:r>
          </a:p>
          <a:p>
            <a:pPr>
              <a:defRPr sz="1200" b="0">
                <a:solidFill>
                  <a:srgbClr val="475569"/>
                </a:solidFill>
              </a:defRPr>
            </a:pPr>
            <a:r>
              <a:t>Evaluating state-of-the-art simulators and AI frameworks to establish our technical differentiators</a:t>
            </a:r>
          </a:p>
        </p:txBody>
      </p:sp>
      <p:sp>
        <p:nvSpPr>
          <p:cNvPr id="5" name="Rounded Rectangle 4"/>
          <p:cNvSpPr/>
          <p:nvPr/>
        </p:nvSpPr>
        <p:spPr>
          <a:xfrm>
            <a:off x="731520" y="1645920"/>
            <a:ext cx="24688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2194560" cy="4114800"/>
          </a:xfrm>
          <a:prstGeom prst="rect">
            <a:avLst/>
          </a:prstGeom>
          <a:noFill/>
        </p:spPr>
        <p:txBody>
          <a:bodyPr wrap="square">
            <a:spAutoFit/>
          </a:bodyPr>
          <a:lstStyle/>
          <a:p>
            <a:pPr>
              <a:defRPr sz="1300" b="1">
                <a:solidFill>
                  <a:srgbClr val="0F172A"/>
                </a:solidFill>
              </a:defRPr>
            </a:pPr>
            <a:r>
              <a:t>SonoGym (2023)</a:t>
            </a:r>
          </a:p>
          <a:p>
            <a:pPr>
              <a:spcBef>
                <a:spcPts val="200"/>
              </a:spcBef>
              <a:defRPr sz="1100">
                <a:solidFill>
                  <a:srgbClr val="0284C7"/>
                </a:solidFill>
              </a:defRPr>
            </a:pPr>
            <a:r>
              <a:t>RL Gym for 2D Tracking</a:t>
            </a:r>
          </a:p>
          <a:p>
            <a:br/>
            <a:pPr>
              <a:defRPr sz="1000">
                <a:solidFill>
                  <a:srgbClr val="475569"/>
                </a:solidFill>
              </a:defRPr>
            </a:pPr>
            <a:r>
              <a:t>What They Did:</a:t>
            </a:r>
            <a:br/>
            <a:r>
              <a:t>• Fast PyBullet gym environment for training 2D probe tracking and visual servoing.</a:t>
            </a:r>
          </a:p>
          <a:p>
            <a:br/>
            <a:pPr>
              <a:defRPr sz="1000">
                <a:solidFill>
                  <a:srgbClr val="8C1D22"/>
                </a:solidFill>
              </a:defRPr>
            </a:pPr>
            <a:r>
              <a:t>Key Limitations:</a:t>
            </a:r>
            <a:br/>
            <a:r>
              <a:t>• Rigid static anatomy; no soft-tissue deformation.</a:t>
            </a:r>
            <a:br/>
            <a:r>
              <a:t>• Mock ultrasound slices fetched from fixed pre-rendered stacks without acoustic ray physics.</a:t>
            </a:r>
            <a:br/>
            <a:r>
              <a:t>• No volumetric 3D reconstruction.</a:t>
            </a:r>
          </a:p>
        </p:txBody>
      </p:sp>
      <p:sp>
        <p:nvSpPr>
          <p:cNvPr id="7" name="Rounded Rectangle 6"/>
          <p:cNvSpPr/>
          <p:nvPr/>
        </p:nvSpPr>
        <p:spPr>
          <a:xfrm>
            <a:off x="3474720" y="1645920"/>
            <a:ext cx="24688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1783080"/>
            <a:ext cx="2194560" cy="4114800"/>
          </a:xfrm>
          <a:prstGeom prst="rect">
            <a:avLst/>
          </a:prstGeom>
          <a:noFill/>
        </p:spPr>
        <p:txBody>
          <a:bodyPr wrap="square">
            <a:spAutoFit/>
          </a:bodyPr>
          <a:lstStyle/>
          <a:p>
            <a:pPr>
              <a:defRPr sz="1300" b="1">
                <a:solidFill>
                  <a:srgbClr val="0F172A"/>
                </a:solidFill>
              </a:defRPr>
            </a:pPr>
            <a:r>
              <a:t>SRT &amp; SRT-H (2024)</a:t>
            </a:r>
          </a:p>
          <a:p>
            <a:pPr>
              <a:spcBef>
                <a:spcPts val="200"/>
              </a:spcBef>
              <a:defRPr sz="1100">
                <a:solidFill>
                  <a:srgbClr val="0284C7"/>
                </a:solidFill>
              </a:defRPr>
            </a:pPr>
            <a:r>
              <a:t>Surgical VLA Transformers</a:t>
            </a:r>
          </a:p>
          <a:p>
            <a:br/>
            <a:pPr>
              <a:defRPr sz="1000">
                <a:solidFill>
                  <a:srgbClr val="475569"/>
                </a:solidFill>
              </a:defRPr>
            </a:pPr>
            <a:r>
              <a:t>What They Did:</a:t>
            </a:r>
            <a:br/>
            <a:r>
              <a:t>• State-of-the-art imitation learning with diffusion policies &amp; hybrid action tokens for surgical robots.</a:t>
            </a:r>
          </a:p>
          <a:p>
            <a:br/>
            <a:pPr>
              <a:defRPr sz="1000">
                <a:solidFill>
                  <a:srgbClr val="8C1D22"/>
                </a:solidFill>
              </a:defRPr>
            </a:pPr>
            <a:r>
              <a:t>Key Limitations:</a:t>
            </a:r>
            <a:br/>
            <a:r>
              <a:t>• Evaluated purely on rigid peg-transfer and block manipulation.</a:t>
            </a:r>
            <a:br/>
            <a:r>
              <a:t>• Lacks acoustic imaging feedback and continuous contact force compliance.</a:t>
            </a:r>
          </a:p>
        </p:txBody>
      </p:sp>
      <p:sp>
        <p:nvSpPr>
          <p:cNvPr id="9" name="Rounded Rectangle 8"/>
          <p:cNvSpPr/>
          <p:nvPr/>
        </p:nvSpPr>
        <p:spPr>
          <a:xfrm>
            <a:off x="6217920" y="1645920"/>
            <a:ext cx="24688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783080"/>
            <a:ext cx="2194560" cy="4114800"/>
          </a:xfrm>
          <a:prstGeom prst="rect">
            <a:avLst/>
          </a:prstGeom>
          <a:noFill/>
        </p:spPr>
        <p:txBody>
          <a:bodyPr wrap="square">
            <a:spAutoFit/>
          </a:bodyPr>
          <a:lstStyle/>
          <a:p>
            <a:pPr>
              <a:defRPr sz="1300" b="1">
                <a:solidFill>
                  <a:srgbClr val="0F172A"/>
                </a:solidFill>
              </a:defRPr>
            </a:pPr>
            <a:r>
              <a:t>AMBF &amp; SlicerROS2</a:t>
            </a:r>
          </a:p>
          <a:p>
            <a:pPr>
              <a:spcBef>
                <a:spcPts val="200"/>
              </a:spcBef>
              <a:defRPr sz="1100">
                <a:solidFill>
                  <a:srgbClr val="0284C7"/>
                </a:solidFill>
              </a:defRPr>
            </a:pPr>
            <a:r>
              <a:t>ROS Middleware Bridges</a:t>
            </a:r>
          </a:p>
          <a:p>
            <a:br/>
            <a:pPr>
              <a:defRPr sz="1000">
                <a:solidFill>
                  <a:srgbClr val="475569"/>
                </a:solidFill>
              </a:defRPr>
            </a:pPr>
            <a:r>
              <a:t>What They Did:</a:t>
            </a:r>
            <a:br/>
            <a:r>
              <a:t>• ROS/ROS2-based frameworks linking surgical simulators to 3D Slicer for visualization.</a:t>
            </a:r>
          </a:p>
          <a:p>
            <a:br/>
            <a:pPr>
              <a:defRPr sz="1000">
                <a:solidFill>
                  <a:srgbClr val="8C1D22"/>
                </a:solidFill>
              </a:defRPr>
            </a:pPr>
            <a:r>
              <a:t>Key Limitations:</a:t>
            </a:r>
            <a:br/>
            <a:r>
              <a:t>• Heavy multi-process serialization overhead.</a:t>
            </a:r>
            <a:br/>
            <a:r>
              <a:t>• Significant IPC latency and jitter during high-frequency robot control.</a:t>
            </a:r>
            <a:br/>
            <a:r>
              <a:t>• Cumbersome multi-node setup prone to message drops.</a:t>
            </a:r>
          </a:p>
        </p:txBody>
      </p:sp>
      <p:sp>
        <p:nvSpPr>
          <p:cNvPr id="11" name="Rounded Rectangle 10"/>
          <p:cNvSpPr/>
          <p:nvPr/>
        </p:nvSpPr>
        <p:spPr>
          <a:xfrm>
            <a:off x="8961120" y="1645920"/>
            <a:ext cx="2468880" cy="4389120"/>
          </a:xfrm>
          <a:prstGeom prst="roundRect">
            <a:avLst/>
          </a:prstGeom>
          <a:solidFill>
            <a:srgbClr val="FEF2F2"/>
          </a:solidFill>
          <a:ln w="254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98280" y="1783080"/>
            <a:ext cx="2194560" cy="4114800"/>
          </a:xfrm>
          <a:prstGeom prst="rect">
            <a:avLst/>
          </a:prstGeom>
          <a:noFill/>
        </p:spPr>
        <p:txBody>
          <a:bodyPr wrap="square">
            <a:spAutoFit/>
          </a:bodyPr>
          <a:lstStyle/>
          <a:p>
            <a:pPr>
              <a:defRPr sz="1300" b="1">
                <a:solidFill>
                  <a:srgbClr val="8C1D22"/>
                </a:solidFill>
              </a:defRPr>
            </a:pPr>
            <a:r>
              <a:t>OUR APPROACH</a:t>
            </a:r>
          </a:p>
          <a:p>
            <a:pPr>
              <a:spcBef>
                <a:spcPts val="200"/>
              </a:spcBef>
              <a:defRPr sz="1100" b="1">
                <a:solidFill>
                  <a:srgbClr val="0F172A"/>
                </a:solidFill>
              </a:defRPr>
            </a:pPr>
            <a:r>
              <a:t>Direct, Physically Grounded</a:t>
            </a:r>
          </a:p>
          <a:p>
            <a:br/>
            <a:pPr>
              <a:defRPr sz="1000">
                <a:solidFill>
                  <a:srgbClr val="0F172A"/>
                </a:solidFill>
              </a:defRPr>
            </a:pPr>
            <a:r>
              <a:t>What We Do Differently:</a:t>
            </a:r>
            <a:br/>
            <a:r>
              <a:t>• Direct OpenIGTLink binary link (Zero ROS overhead, sub-millisecond latency).</a:t>
            </a:r>
            <a:br/>
            <a:r>
              <a:t>• Live GPU CT reslicing + physical acoustic ray tracing (attenuation, reflection, speckle).</a:t>
            </a:r>
            <a:br/>
            <a:r>
              <a:t>• Soft-tissue compliance + real-time keep-out virtual safety fixtures.</a:t>
            </a:r>
            <a:br/>
            <a:r>
              <a:t>• Active 3D Next-Best-View volumetric reconstruction.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FEE2E2"/>
          </a:solidFill>
          <a:ln w="12700">
            <a:solidFill>
              <a:srgbClr val="8C1D2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8C1D22"/>
                </a:solidFill>
              </a:defRPr>
            </a:pPr>
            <a:r>
              <a:t>3. WORK ACCOMPLISHED</a:t>
            </a:r>
          </a:p>
        </p:txBody>
      </p:sp>
      <p:sp>
        <p:nvSpPr>
          <p:cNvPr id="4" name="TextBox 3"/>
          <p:cNvSpPr txBox="1"/>
          <p:nvPr/>
        </p:nvSpPr>
        <p:spPr>
          <a:xfrm>
            <a:off x="731520" y="731520"/>
            <a:ext cx="10698480" cy="548640"/>
          </a:xfrm>
          <a:prstGeom prst="rect">
            <a:avLst/>
          </a:prstGeom>
          <a:noFill/>
        </p:spPr>
        <p:txBody>
          <a:bodyPr wrap="square" lIns="0" rIns="0" tIns="0" bIns="0">
            <a:spAutoFit/>
          </a:bodyPr>
          <a:lstStyle/>
          <a:p>
            <a:pPr>
              <a:defRPr sz="2200" b="1">
                <a:solidFill>
                  <a:srgbClr val="0F172A"/>
                </a:solidFill>
              </a:defRPr>
            </a:pPr>
            <a:r>
              <a:t>System Architecture &amp; End-to-End Workflow</a:t>
            </a:r>
          </a:p>
          <a:p>
            <a:pPr>
              <a:defRPr sz="1200" b="0">
                <a:solidFill>
                  <a:srgbClr val="475569"/>
                </a:solidFill>
              </a:defRPr>
            </a:pPr>
            <a:r>
              <a:t>Closed-loop integration of high-rate robot dynamics, GPU acoustic synthesis, and medical frontend</a:t>
            </a:r>
          </a:p>
        </p:txBody>
      </p:sp>
      <p:sp>
        <p:nvSpPr>
          <p:cNvPr id="5" name="Rounded Rectangle 4"/>
          <p:cNvSpPr/>
          <p:nvPr/>
        </p:nvSpPr>
        <p:spPr>
          <a:xfrm>
            <a:off x="731520" y="1645920"/>
            <a:ext cx="10728655"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05840" y="1920240"/>
            <a:ext cx="1920240" cy="10058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011680"/>
            <a:ext cx="1828800" cy="822960"/>
          </a:xfrm>
          <a:prstGeom prst="rect">
            <a:avLst/>
          </a:prstGeom>
          <a:noFill/>
        </p:spPr>
        <p:txBody>
          <a:bodyPr wrap="square">
            <a:spAutoFit/>
          </a:bodyPr>
          <a:lstStyle/>
          <a:p>
            <a:pPr algn="ctr">
              <a:defRPr sz="1200" b="1">
                <a:solidFill>
                  <a:srgbClr val="0F172A"/>
                </a:solidFill>
              </a:defRPr>
            </a:pPr>
            <a:r>
              <a:t>Patient 3D CT</a:t>
            </a:r>
          </a:p>
          <a:p>
            <a:pPr algn="ctr">
              <a:defRPr sz="950">
                <a:solidFill>
                  <a:srgbClr val="475569"/>
                </a:solidFill>
              </a:defRPr>
            </a:pPr>
            <a:r>
              <a:t>Volumetric tensor (Hounsfield units)</a:t>
            </a:r>
          </a:p>
        </p:txBody>
      </p:sp>
      <p:sp>
        <p:nvSpPr>
          <p:cNvPr id="8" name="Right Arrow 7"/>
          <p:cNvSpPr/>
          <p:nvPr/>
        </p:nvSpPr>
        <p:spPr>
          <a:xfrm>
            <a:off x="3017520" y="2240280"/>
            <a:ext cx="365760" cy="274320"/>
          </a:xfrm>
          <a:prstGeom prst="rightArrow">
            <a:avLst/>
          </a:prstGeom>
          <a:solidFill>
            <a:srgbClr val="8C1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4720" y="1920240"/>
            <a:ext cx="1920240" cy="10058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0440" y="2011680"/>
            <a:ext cx="1828800" cy="822960"/>
          </a:xfrm>
          <a:prstGeom prst="rect">
            <a:avLst/>
          </a:prstGeom>
          <a:noFill/>
        </p:spPr>
        <p:txBody>
          <a:bodyPr wrap="square">
            <a:spAutoFit/>
          </a:bodyPr>
          <a:lstStyle/>
          <a:p>
            <a:pPr algn="ctr">
              <a:defRPr sz="1200" b="1">
                <a:solidFill>
                  <a:srgbClr val="8C1D22"/>
                </a:solidFill>
              </a:defRPr>
            </a:pPr>
            <a:r>
              <a:t>GPU Acoustic Shader</a:t>
            </a:r>
          </a:p>
          <a:p>
            <a:pPr algn="ctr">
              <a:defRPr sz="950">
                <a:solidFill>
                  <a:srgbClr val="475569"/>
                </a:solidFill>
              </a:defRPr>
            </a:pPr>
            <a:r>
              <a:t>grid_sample + attenuation &amp; speckle</a:t>
            </a:r>
          </a:p>
        </p:txBody>
      </p:sp>
      <p:sp>
        <p:nvSpPr>
          <p:cNvPr id="11" name="Right Arrow 10"/>
          <p:cNvSpPr/>
          <p:nvPr/>
        </p:nvSpPr>
        <p:spPr>
          <a:xfrm>
            <a:off x="5486400" y="2240280"/>
            <a:ext cx="365760" cy="274320"/>
          </a:xfrm>
          <a:prstGeom prst="rightArrow">
            <a:avLst/>
          </a:prstGeom>
          <a:solidFill>
            <a:srgbClr val="8C1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0" y="1920240"/>
            <a:ext cx="1920240" cy="10058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89320" y="2011680"/>
            <a:ext cx="1828800" cy="822960"/>
          </a:xfrm>
          <a:prstGeom prst="rect">
            <a:avLst/>
          </a:prstGeom>
          <a:noFill/>
        </p:spPr>
        <p:txBody>
          <a:bodyPr wrap="square">
            <a:spAutoFit/>
          </a:bodyPr>
          <a:lstStyle/>
          <a:p>
            <a:pPr algn="ctr">
              <a:defRPr sz="1200" b="1">
                <a:solidFill>
                  <a:srgbClr val="0F172A"/>
                </a:solidFill>
              </a:defRPr>
            </a:pPr>
            <a:r>
              <a:t>Synthesized B-Mode</a:t>
            </a:r>
          </a:p>
          <a:p>
            <a:pPr algn="ctr">
              <a:defRPr sz="950">
                <a:solidFill>
                  <a:srgbClr val="475569"/>
                </a:solidFill>
              </a:defRPr>
            </a:pPr>
            <a:r>
              <a:t>2D frame + confidence map</a:t>
            </a:r>
          </a:p>
        </p:txBody>
      </p:sp>
      <p:sp>
        <p:nvSpPr>
          <p:cNvPr id="14" name="Right Arrow 13"/>
          <p:cNvSpPr/>
          <p:nvPr/>
        </p:nvSpPr>
        <p:spPr>
          <a:xfrm>
            <a:off x="7955279" y="2240280"/>
            <a:ext cx="365760" cy="274320"/>
          </a:xfrm>
          <a:prstGeom prst="rightArrow">
            <a:avLst/>
          </a:prstGeom>
          <a:solidFill>
            <a:srgbClr val="8C1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412480" y="1920240"/>
            <a:ext cx="1920240" cy="10058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2011680"/>
            <a:ext cx="1828800" cy="822960"/>
          </a:xfrm>
          <a:prstGeom prst="rect">
            <a:avLst/>
          </a:prstGeom>
          <a:noFill/>
        </p:spPr>
        <p:txBody>
          <a:bodyPr wrap="square">
            <a:spAutoFit/>
          </a:bodyPr>
          <a:lstStyle/>
          <a:p>
            <a:pPr algn="ctr">
              <a:defRPr sz="1200" b="1">
                <a:solidFill>
                  <a:srgbClr val="0284C7"/>
                </a:solidFill>
              </a:defRPr>
            </a:pPr>
            <a:r>
              <a:t>3D Reconstruction</a:t>
            </a:r>
          </a:p>
          <a:p>
            <a:pPr algn="ctr">
              <a:defRPr sz="950">
                <a:solidFill>
                  <a:srgbClr val="475569"/>
                </a:solidFill>
              </a:defRPr>
            </a:pPr>
            <a:r>
              <a:t>Voxel fusion + uncertainty tracking</a:t>
            </a:r>
          </a:p>
        </p:txBody>
      </p:sp>
      <p:sp>
        <p:nvSpPr>
          <p:cNvPr id="17" name="Rounded Rectangle 16"/>
          <p:cNvSpPr/>
          <p:nvPr/>
        </p:nvSpPr>
        <p:spPr>
          <a:xfrm>
            <a:off x="2011680" y="3291840"/>
            <a:ext cx="3474720" cy="10058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03120" y="3383280"/>
            <a:ext cx="3291840" cy="822960"/>
          </a:xfrm>
          <a:prstGeom prst="rect">
            <a:avLst/>
          </a:prstGeom>
          <a:noFill/>
        </p:spPr>
        <p:txBody>
          <a:bodyPr wrap="square">
            <a:spAutoFit/>
          </a:bodyPr>
          <a:lstStyle/>
          <a:p>
            <a:pPr algn="ctr">
              <a:defRPr sz="1200" b="1">
                <a:solidFill>
                  <a:srgbClr val="8C1D22"/>
                </a:solidFill>
              </a:defRPr>
            </a:pPr>
            <a:r>
              <a:t>PyBullet Physics Engine (1000 Hz)</a:t>
            </a:r>
          </a:p>
          <a:p>
            <a:pPr algn="ctr">
              <a:defRPr sz="950">
                <a:solidFill>
                  <a:srgbClr val="475569"/>
                </a:solidFill>
              </a:defRPr>
            </a:pPr>
            <a:r>
              <a:t>Kinova 7-DoF + Contact Forces + Virtual Safety Fixtures</a:t>
            </a:r>
          </a:p>
        </p:txBody>
      </p:sp>
      <p:sp>
        <p:nvSpPr>
          <p:cNvPr id="19" name="Left-Right Arrow 18"/>
          <p:cNvSpPr/>
          <p:nvPr/>
        </p:nvSpPr>
        <p:spPr>
          <a:xfrm>
            <a:off x="5577840" y="3611880"/>
            <a:ext cx="731520" cy="320040"/>
          </a:xfrm>
          <a:prstGeom prst="lef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00800" y="3291840"/>
            <a:ext cx="3931920" cy="10058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3383280"/>
            <a:ext cx="3749039" cy="822960"/>
          </a:xfrm>
          <a:prstGeom prst="rect">
            <a:avLst/>
          </a:prstGeom>
          <a:noFill/>
        </p:spPr>
        <p:txBody>
          <a:bodyPr wrap="square">
            <a:spAutoFit/>
          </a:bodyPr>
          <a:lstStyle/>
          <a:p>
            <a:pPr algn="ctr">
              <a:defRPr sz="1200" b="1">
                <a:solidFill>
                  <a:srgbClr val="0D9488"/>
                </a:solidFill>
              </a:defRPr>
            </a:pPr>
            <a:r>
              <a:t>3D Slicer Clinical Suite (60 FPS)</a:t>
            </a:r>
          </a:p>
          <a:p>
            <a:pPr algn="ctr">
              <a:defRPr sz="950">
                <a:solidFill>
                  <a:srgbClr val="475569"/>
                </a:solidFill>
              </a:defRPr>
            </a:pPr>
            <a:r>
              <a:t>OpenIGTLink Protocol | In-Place VTK Updates | Doctor View</a:t>
            </a:r>
          </a:p>
        </p:txBody>
      </p:sp>
      <p:sp>
        <p:nvSpPr>
          <p:cNvPr id="22" name="Rounded Rectangle 21"/>
          <p:cNvSpPr/>
          <p:nvPr/>
        </p:nvSpPr>
        <p:spPr>
          <a:xfrm>
            <a:off x="731520" y="4754880"/>
            <a:ext cx="3328416"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846320"/>
            <a:ext cx="3054096" cy="1463040"/>
          </a:xfrm>
          <a:prstGeom prst="rect">
            <a:avLst/>
          </a:prstGeom>
          <a:noFill/>
        </p:spPr>
        <p:txBody>
          <a:bodyPr wrap="square">
            <a:spAutoFit/>
          </a:bodyPr>
          <a:lstStyle/>
          <a:p>
            <a:pPr>
              <a:defRPr sz="1200" b="1">
                <a:solidFill>
                  <a:srgbClr val="8C1D22"/>
                </a:solidFill>
              </a:defRPr>
            </a:pPr>
            <a:r>
              <a:t>High-Rate Physics Loop (1000 Hz)</a:t>
            </a:r>
          </a:p>
          <a:p>
            <a:pPr>
              <a:spcBef>
                <a:spcPts val="400"/>
              </a:spcBef>
              <a:defRPr sz="1050">
                <a:solidFill>
                  <a:srgbClr val="475569"/>
                </a:solidFill>
              </a:defRPr>
            </a:pPr>
            <a:r>
              <a:t>Simulates rigid robot dynamics, tissue deformation, joint limits, and normal force responses at 1 ms intervals to prevent numerical contact instability.</a:t>
            </a:r>
          </a:p>
        </p:txBody>
      </p:sp>
      <p:sp>
        <p:nvSpPr>
          <p:cNvPr id="24" name="Rounded Rectangle 23"/>
          <p:cNvSpPr/>
          <p:nvPr/>
        </p:nvSpPr>
        <p:spPr>
          <a:xfrm>
            <a:off x="4425696" y="4754880"/>
            <a:ext cx="3328416"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62856" y="4846320"/>
            <a:ext cx="3054096" cy="1463040"/>
          </a:xfrm>
          <a:prstGeom prst="rect">
            <a:avLst/>
          </a:prstGeom>
          <a:noFill/>
        </p:spPr>
        <p:txBody>
          <a:bodyPr wrap="square">
            <a:spAutoFit/>
          </a:bodyPr>
          <a:lstStyle/>
          <a:p>
            <a:pPr>
              <a:defRPr sz="1200" b="1">
                <a:solidFill>
                  <a:srgbClr val="0284C7"/>
                </a:solidFill>
              </a:defRPr>
            </a:pPr>
            <a:r>
              <a:t>Visual &amp; Telemetry Loop (60 Hz)</a:t>
            </a:r>
          </a:p>
          <a:p>
            <a:pPr>
              <a:spcBef>
                <a:spcPts val="400"/>
              </a:spcBef>
              <a:defRPr sz="1050">
                <a:solidFill>
                  <a:srgbClr val="475569"/>
                </a:solidFill>
              </a:defRPr>
            </a:pPr>
            <a:r>
              <a:t>Serializes robot kinematics and contact force vectors over direct OpenIGTLink TCP sockets to 3D Slicer, updating VTK mesh transforms smoothly.</a:t>
            </a:r>
          </a:p>
        </p:txBody>
      </p:sp>
      <p:sp>
        <p:nvSpPr>
          <p:cNvPr id="26" name="Rounded Rectangle 25"/>
          <p:cNvSpPr/>
          <p:nvPr/>
        </p:nvSpPr>
        <p:spPr>
          <a:xfrm>
            <a:off x="8119872" y="4754880"/>
            <a:ext cx="3328416"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57032" y="4846320"/>
            <a:ext cx="3054096" cy="1463040"/>
          </a:xfrm>
          <a:prstGeom prst="rect">
            <a:avLst/>
          </a:prstGeom>
          <a:noFill/>
        </p:spPr>
        <p:txBody>
          <a:bodyPr wrap="square">
            <a:spAutoFit/>
          </a:bodyPr>
          <a:lstStyle/>
          <a:p>
            <a:pPr>
              <a:defRPr sz="1200" b="1">
                <a:solidFill>
                  <a:srgbClr val="D97706"/>
                </a:solidFill>
              </a:defRPr>
            </a:pPr>
            <a:r>
              <a:t>Reconstruction &amp; Planning (10 Hz)</a:t>
            </a:r>
          </a:p>
          <a:p>
            <a:pPr>
              <a:spcBef>
                <a:spcPts val="400"/>
              </a:spcBef>
              <a:defRPr sz="1050">
                <a:solidFill>
                  <a:srgbClr val="475569"/>
                </a:solidFill>
              </a:defRPr>
            </a:pPr>
            <a:r>
              <a:t>Accumulates synthesized 2D B-scans into a global 3D voxel grid and computes information gain to command the next-best probe trajectory.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FEE2E2"/>
          </a:solidFill>
          <a:ln w="12700">
            <a:solidFill>
              <a:srgbClr val="8C1D2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8C1D22"/>
                </a:solidFill>
              </a:defRPr>
            </a:pPr>
            <a:r>
              <a:t>3. WORK ACCOMPLISHED</a:t>
            </a:r>
          </a:p>
        </p:txBody>
      </p:sp>
      <p:sp>
        <p:nvSpPr>
          <p:cNvPr id="4" name="TextBox 3"/>
          <p:cNvSpPr txBox="1"/>
          <p:nvPr/>
        </p:nvSpPr>
        <p:spPr>
          <a:xfrm>
            <a:off x="731520" y="731520"/>
            <a:ext cx="10698480" cy="548640"/>
          </a:xfrm>
          <a:prstGeom prst="rect">
            <a:avLst/>
          </a:prstGeom>
          <a:noFill/>
        </p:spPr>
        <p:txBody>
          <a:bodyPr wrap="square" lIns="0" rIns="0" tIns="0" bIns="0">
            <a:spAutoFit/>
          </a:bodyPr>
          <a:lstStyle/>
          <a:p>
            <a:pPr>
              <a:defRPr sz="2200" b="1">
                <a:solidFill>
                  <a:srgbClr val="0F172A"/>
                </a:solidFill>
              </a:defRPr>
            </a:pPr>
            <a:r>
              <a:t>Slicer-PyBullet Surgical Bridge</a:t>
            </a:r>
          </a:p>
          <a:p>
            <a:pPr>
              <a:defRPr sz="1200" b="0">
                <a:solidFill>
                  <a:srgbClr val="475569"/>
                </a:solidFill>
              </a:defRPr>
            </a:pPr>
            <a:r>
              <a:t>High-performance direct binary coupling between physics simulation and clinical visualization</a:t>
            </a:r>
          </a:p>
        </p:txBody>
      </p:sp>
      <p:sp>
        <p:nvSpPr>
          <p:cNvPr id="5" name="Rounded Rectangle 4"/>
          <p:cNvSpPr/>
          <p:nvPr/>
        </p:nvSpPr>
        <p:spPr>
          <a:xfrm>
            <a:off x="731520" y="1645920"/>
            <a:ext cx="10728655"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05840" y="1920240"/>
            <a:ext cx="3017520" cy="1463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011680"/>
            <a:ext cx="2834640" cy="1280160"/>
          </a:xfrm>
          <a:prstGeom prst="rect">
            <a:avLst/>
          </a:prstGeom>
          <a:noFill/>
        </p:spPr>
        <p:txBody>
          <a:bodyPr wrap="square">
            <a:spAutoFit/>
          </a:bodyPr>
          <a:lstStyle/>
          <a:p>
            <a:pPr>
              <a:defRPr sz="1300" b="1">
                <a:solidFill>
                  <a:srgbClr val="8C1D22"/>
                </a:solidFill>
              </a:defRPr>
            </a:pPr>
            <a:r>
              <a:t>PyBullet Physics Engine</a:t>
            </a:r>
          </a:p>
          <a:p>
            <a:pPr>
              <a:spcBef>
                <a:spcPts val="400"/>
              </a:spcBef>
              <a:defRPr sz="1050">
                <a:solidFill>
                  <a:srgbClr val="1E293B"/>
                </a:solidFill>
              </a:defRPr>
            </a:pPr>
            <a:r>
              <a:t>• Kinova Gen3 7-DoF Robot Dynamics</a:t>
            </a:r>
            <a:br/>
            <a:r>
              <a:t>• 1000 Hz Contact Physics &amp; Constraints</a:t>
            </a:r>
            <a:br/>
            <a:r>
              <a:t>• Keep-Out Virtual Safety Fixtures</a:t>
            </a:r>
          </a:p>
        </p:txBody>
      </p:sp>
      <p:sp>
        <p:nvSpPr>
          <p:cNvPr id="8" name="Right Arrow 7"/>
          <p:cNvSpPr/>
          <p:nvPr/>
        </p:nvSpPr>
        <p:spPr>
          <a:xfrm>
            <a:off x="4206240" y="2377440"/>
            <a:ext cx="914400" cy="365760"/>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0" y="2011680"/>
            <a:ext cx="1097280" cy="365760"/>
          </a:xfrm>
          <a:prstGeom prst="rect">
            <a:avLst/>
          </a:prstGeom>
          <a:noFill/>
        </p:spPr>
        <p:txBody>
          <a:bodyPr wrap="square">
            <a:spAutoFit/>
          </a:bodyPr>
          <a:lstStyle/>
          <a:p>
            <a:pPr algn="ctr">
              <a:defRPr sz="950" b="1">
                <a:solidFill>
                  <a:srgbClr val="0D9488"/>
                </a:solidFill>
              </a:defRPr>
            </a:pPr>
            <a:r>
              <a:t>TCP Sockets</a:t>
            </a:r>
          </a:p>
        </p:txBody>
      </p:sp>
      <p:sp>
        <p:nvSpPr>
          <p:cNvPr id="10" name="Rounded Rectangle 9"/>
          <p:cNvSpPr/>
          <p:nvPr/>
        </p:nvSpPr>
        <p:spPr>
          <a:xfrm>
            <a:off x="5303520" y="1920240"/>
            <a:ext cx="2103120" cy="1463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49240" y="2011680"/>
            <a:ext cx="2011680" cy="1280160"/>
          </a:xfrm>
          <a:prstGeom prst="rect">
            <a:avLst/>
          </a:prstGeom>
          <a:noFill/>
        </p:spPr>
        <p:txBody>
          <a:bodyPr wrap="square">
            <a:spAutoFit/>
          </a:bodyPr>
          <a:lstStyle/>
          <a:p>
            <a:pPr algn="ctr">
              <a:defRPr sz="1300" b="1">
                <a:solidFill>
                  <a:srgbClr val="0F172A"/>
                </a:solidFill>
              </a:defRPr>
            </a:pPr>
            <a:r>
              <a:t>OpenIGTLink</a:t>
            </a:r>
          </a:p>
          <a:p>
            <a:pPr algn="ctr">
              <a:spcBef>
                <a:spcPts val="400"/>
              </a:spcBef>
              <a:defRPr sz="1000">
                <a:solidFill>
                  <a:srgbClr val="475569"/>
                </a:solidFill>
              </a:defRPr>
            </a:pPr>
            <a:r>
              <a:t>Standard Medical Robotics Binary Transport (Header + Body CRC)</a:t>
            </a:r>
          </a:p>
        </p:txBody>
      </p:sp>
      <p:sp>
        <p:nvSpPr>
          <p:cNvPr id="12" name="Right Arrow 11"/>
          <p:cNvSpPr/>
          <p:nvPr/>
        </p:nvSpPr>
        <p:spPr>
          <a:xfrm>
            <a:off x="7589520" y="2377440"/>
            <a:ext cx="731520" cy="365760"/>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503920" y="1920240"/>
            <a:ext cx="3017520" cy="1463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0" y="2011680"/>
            <a:ext cx="2834640" cy="1280160"/>
          </a:xfrm>
          <a:prstGeom prst="rect">
            <a:avLst/>
          </a:prstGeom>
          <a:noFill/>
        </p:spPr>
        <p:txBody>
          <a:bodyPr wrap="square">
            <a:spAutoFit/>
          </a:bodyPr>
          <a:lstStyle/>
          <a:p>
            <a:pPr>
              <a:defRPr sz="1300" b="1">
                <a:solidFill>
                  <a:srgbClr val="0D9488"/>
                </a:solidFill>
              </a:defRPr>
            </a:pPr>
            <a:r>
              <a:t>3D Slicer Clinical Suite</a:t>
            </a:r>
          </a:p>
          <a:p>
            <a:pPr>
              <a:spcBef>
                <a:spcPts val="400"/>
              </a:spcBef>
              <a:defRPr sz="1050">
                <a:solidFill>
                  <a:srgbClr val="1E293B"/>
                </a:solidFill>
              </a:defRPr>
            </a:pPr>
            <a:r>
              <a:t>• 60 FPS In-Place VTK Mesh Transforms</a:t>
            </a:r>
            <a:br/>
            <a:r>
              <a:t>• Live Dynamic Force Vector Widget</a:t>
            </a:r>
            <a:br/>
            <a:r>
              <a:t>• Native Surgeon Planning UI</a:t>
            </a:r>
          </a:p>
        </p:txBody>
      </p:sp>
      <p:sp>
        <p:nvSpPr>
          <p:cNvPr id="15" name="Rounded Rectangle 14"/>
          <p:cNvSpPr/>
          <p:nvPr/>
        </p:nvSpPr>
        <p:spPr>
          <a:xfrm>
            <a:off x="731520" y="3931920"/>
            <a:ext cx="3328416"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69080"/>
            <a:ext cx="3054096" cy="2194560"/>
          </a:xfrm>
          <a:prstGeom prst="rect">
            <a:avLst/>
          </a:prstGeom>
          <a:noFill/>
        </p:spPr>
        <p:txBody>
          <a:bodyPr wrap="square">
            <a:spAutoFit/>
          </a:bodyPr>
          <a:lstStyle/>
          <a:p>
            <a:pPr>
              <a:defRPr sz="1300" b="1">
                <a:solidFill>
                  <a:srgbClr val="8C1D22"/>
                </a:solidFill>
              </a:defRPr>
            </a:pPr>
            <a:r>
              <a:t>Zero-ROS Architecture</a:t>
            </a:r>
          </a:p>
          <a:p>
            <a:br/>
            <a:pPr>
              <a:defRPr sz="1100">
                <a:solidFill>
                  <a:srgbClr val="475569"/>
                </a:solidFill>
              </a:defRPr>
            </a:pPr>
            <a:r>
              <a:t>• Why not ROS/ROS2?</a:t>
            </a:r>
            <a:br/>
            <a:r>
              <a:t>ROS adds heavy serialization, daemon processes, and message drop issues on non-Linux surgical workstations.</a:t>
            </a:r>
          </a:p>
          <a:p>
            <a:br/>
            <a:pPr>
              <a:defRPr sz="1100">
                <a:solidFill>
                  <a:srgbClr val="475569"/>
                </a:solidFill>
              </a:defRPr>
            </a:pPr>
            <a:r>
              <a:t>• Direct OpenIGTLink:</a:t>
            </a:r>
            <a:br/>
            <a:r>
              <a:t>Uses standard medical robotics protocol over lightweight TCP binary sockets with sub-millisecond round-trip latency.</a:t>
            </a:r>
          </a:p>
        </p:txBody>
      </p:sp>
      <p:sp>
        <p:nvSpPr>
          <p:cNvPr id="17" name="Rounded Rectangle 16"/>
          <p:cNvSpPr/>
          <p:nvPr/>
        </p:nvSpPr>
        <p:spPr>
          <a:xfrm>
            <a:off x="4425696" y="3931920"/>
            <a:ext cx="3328416"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62856" y="4069080"/>
            <a:ext cx="3054096" cy="2194560"/>
          </a:xfrm>
          <a:prstGeom prst="rect">
            <a:avLst/>
          </a:prstGeom>
          <a:noFill/>
        </p:spPr>
        <p:txBody>
          <a:bodyPr wrap="square">
            <a:spAutoFit/>
          </a:bodyPr>
          <a:lstStyle/>
          <a:p>
            <a:pPr>
              <a:defRPr sz="1300" b="1">
                <a:solidFill>
                  <a:srgbClr val="0284C7"/>
                </a:solidFill>
              </a:defRPr>
            </a:pPr>
            <a:r>
              <a:t>Multi-Rate Rate Decoupling</a:t>
            </a:r>
          </a:p>
          <a:p>
            <a:br/>
            <a:pPr>
              <a:defRPr sz="1100">
                <a:solidFill>
                  <a:srgbClr val="475569"/>
                </a:solidFill>
              </a:defRPr>
            </a:pPr>
            <a:r>
              <a:t>• Stable Contact Physics:</a:t>
            </a:r>
            <a:br/>
            <a:r>
              <a:t>Rigid dynamics and penalty-based contact constraints resolve at 1000 Hz (1 ms timestep), preventing probe jitter.</a:t>
            </a:r>
          </a:p>
          <a:p>
            <a:br/>
            <a:pPr>
              <a:defRPr sz="1100">
                <a:solidFill>
                  <a:srgbClr val="475569"/>
                </a:solidFill>
              </a:defRPr>
            </a:pPr>
            <a:r>
              <a:t>• In-Place VTK Updates:</a:t>
            </a:r>
            <a:br/>
            <a:r>
              <a:t>3D Slicer receives state transforms and updates existing scene graph nodes in-place, eliminating memory leaks.</a:t>
            </a:r>
          </a:p>
        </p:txBody>
      </p:sp>
      <p:sp>
        <p:nvSpPr>
          <p:cNvPr id="19" name="Rounded Rectangle 18"/>
          <p:cNvSpPr/>
          <p:nvPr/>
        </p:nvSpPr>
        <p:spPr>
          <a:xfrm>
            <a:off x="8119872" y="3931920"/>
            <a:ext cx="3328416"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57032" y="4069080"/>
            <a:ext cx="3054096" cy="2194560"/>
          </a:xfrm>
          <a:prstGeom prst="rect">
            <a:avLst/>
          </a:prstGeom>
          <a:noFill/>
        </p:spPr>
        <p:txBody>
          <a:bodyPr wrap="square">
            <a:spAutoFit/>
          </a:bodyPr>
          <a:lstStyle/>
          <a:p>
            <a:pPr>
              <a:defRPr sz="1300" b="1">
                <a:solidFill>
                  <a:srgbClr val="D97706"/>
                </a:solidFill>
              </a:defRPr>
            </a:pPr>
            <a:r>
              <a:t>Virtual Safety Fixtures</a:t>
            </a:r>
          </a:p>
          <a:p>
            <a:br/>
            <a:pPr>
              <a:defRPr sz="1100">
                <a:solidFill>
                  <a:srgbClr val="475569"/>
                </a:solidFill>
              </a:defRPr>
            </a:pPr>
            <a:r>
              <a:t>• Task-Space Keep-Out Zones:</a:t>
            </a:r>
            <a:br/>
            <a:r>
              <a:t>Surgeon defines critical organ boundaries (e.g. carotid artery) in 3D Slicer; bridge streams JSON safety geometry.</a:t>
            </a:r>
          </a:p>
          <a:p>
            <a:br/>
            <a:pPr>
              <a:defRPr sz="1100">
                <a:solidFill>
                  <a:srgbClr val="475569"/>
                </a:solidFill>
              </a:defRPr>
            </a:pPr>
            <a:r>
              <a:t>• Active Force Projection:</a:t>
            </a:r>
            <a:br/>
            <a:r>
              <a:t>Kinova controller projects velocity into the nullspace of boundary normals, making penetration physically impossible.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FEE2E2"/>
          </a:solidFill>
          <a:ln w="12700">
            <a:solidFill>
              <a:srgbClr val="8C1D2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8C1D22"/>
                </a:solidFill>
              </a:defRPr>
            </a:pPr>
            <a:r>
              <a:t>3. WORK ACCOMPLISHED</a:t>
            </a:r>
          </a:p>
        </p:txBody>
      </p:sp>
      <p:sp>
        <p:nvSpPr>
          <p:cNvPr id="4" name="TextBox 3"/>
          <p:cNvSpPr txBox="1"/>
          <p:nvPr/>
        </p:nvSpPr>
        <p:spPr>
          <a:xfrm>
            <a:off x="731520" y="731520"/>
            <a:ext cx="10698480" cy="548640"/>
          </a:xfrm>
          <a:prstGeom prst="rect">
            <a:avLst/>
          </a:prstGeom>
          <a:noFill/>
        </p:spPr>
        <p:txBody>
          <a:bodyPr wrap="square" lIns="0" rIns="0" tIns="0" bIns="0">
            <a:spAutoFit/>
          </a:bodyPr>
          <a:lstStyle/>
          <a:p>
            <a:pPr>
              <a:defRPr sz="2200" b="1">
                <a:solidFill>
                  <a:srgbClr val="0F172A"/>
                </a:solidFill>
              </a:defRPr>
            </a:pPr>
            <a:r>
              <a:t>3D Ultrasound Reconstruction Pipeline</a:t>
            </a:r>
          </a:p>
          <a:p>
            <a:pPr>
              <a:defRPr sz="1200" b="0">
                <a:solidFill>
                  <a:srgbClr val="475569"/>
                </a:solidFill>
              </a:defRPr>
            </a:pPr>
            <a:r>
              <a:t>GPU-accelerated acoustic physics reslicing, confidence accumulation, and active view planning</a:t>
            </a:r>
          </a:p>
        </p:txBody>
      </p:sp>
      <p:sp>
        <p:nvSpPr>
          <p:cNvPr id="5" name="Rounded Rectangle 4"/>
          <p:cNvSpPr/>
          <p:nvPr/>
        </p:nvSpPr>
        <p:spPr>
          <a:xfrm>
            <a:off x="731520" y="1645920"/>
            <a:ext cx="10728655"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05840" y="1920240"/>
            <a:ext cx="2103120" cy="1463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011680"/>
            <a:ext cx="2011680" cy="1280160"/>
          </a:xfrm>
          <a:prstGeom prst="rect">
            <a:avLst/>
          </a:prstGeom>
          <a:noFill/>
        </p:spPr>
        <p:txBody>
          <a:bodyPr wrap="square">
            <a:spAutoFit/>
          </a:bodyPr>
          <a:lstStyle/>
          <a:p>
            <a:pPr>
              <a:defRPr sz="1200" b="1">
                <a:solidFill>
                  <a:srgbClr val="0F172A"/>
                </a:solidFill>
              </a:defRPr>
            </a:pPr>
            <a:r>
              <a:t>1. Patient CT Volume</a:t>
            </a:r>
          </a:p>
          <a:p>
            <a:pPr>
              <a:spcBef>
                <a:spcPts val="400"/>
              </a:spcBef>
              <a:defRPr sz="1000">
                <a:solidFill>
                  <a:srgbClr val="475569"/>
                </a:solidFill>
              </a:defRPr>
            </a:pPr>
            <a:r>
              <a:t>• 3D density tensor</a:t>
            </a:r>
            <a:br/>
            <a:r>
              <a:t>• Hounsfield Units</a:t>
            </a:r>
            <a:br/>
            <a:r>
              <a:t>• Ground-truth anatomy</a:t>
            </a:r>
          </a:p>
        </p:txBody>
      </p:sp>
      <p:sp>
        <p:nvSpPr>
          <p:cNvPr id="8" name="Right Arrow 7"/>
          <p:cNvSpPr/>
          <p:nvPr/>
        </p:nvSpPr>
        <p:spPr>
          <a:xfrm>
            <a:off x="3154680" y="2468880"/>
            <a:ext cx="411480" cy="274320"/>
          </a:xfrm>
          <a:prstGeom prst="rightArrow">
            <a:avLst/>
          </a:prstGeom>
          <a:solidFill>
            <a:srgbClr val="8C1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657600" y="1920240"/>
            <a:ext cx="2103120" cy="1463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3320" y="2011680"/>
            <a:ext cx="2011680" cy="1280160"/>
          </a:xfrm>
          <a:prstGeom prst="rect">
            <a:avLst/>
          </a:prstGeom>
          <a:noFill/>
        </p:spPr>
        <p:txBody>
          <a:bodyPr wrap="square">
            <a:spAutoFit/>
          </a:bodyPr>
          <a:lstStyle/>
          <a:p>
            <a:pPr>
              <a:defRPr sz="1200" b="1">
                <a:solidFill>
                  <a:srgbClr val="8C1D22"/>
                </a:solidFill>
              </a:defRPr>
            </a:pPr>
            <a:r>
              <a:t>2. Acoustic GPU Shader</a:t>
            </a:r>
          </a:p>
          <a:p>
            <a:pPr>
              <a:spcBef>
                <a:spcPts val="400"/>
              </a:spcBef>
              <a:defRPr sz="1000">
                <a:solidFill>
                  <a:srgbClr val="475569"/>
                </a:solidFill>
              </a:defRPr>
            </a:pPr>
            <a:r>
              <a:t>• grid_sample reslicing</a:t>
            </a:r>
            <a:br/>
            <a:r>
              <a:t>• Depth attenuation</a:t>
            </a:r>
            <a:br/>
            <a:r>
              <a:t>• Acoustic speckle noise</a:t>
            </a:r>
          </a:p>
        </p:txBody>
      </p:sp>
      <p:sp>
        <p:nvSpPr>
          <p:cNvPr id="11" name="Right Arrow 10"/>
          <p:cNvSpPr/>
          <p:nvPr/>
        </p:nvSpPr>
        <p:spPr>
          <a:xfrm>
            <a:off x="5806440" y="2468880"/>
            <a:ext cx="411480" cy="274320"/>
          </a:xfrm>
          <a:prstGeom prst="rightArrow">
            <a:avLst/>
          </a:prstGeom>
          <a:solidFill>
            <a:srgbClr val="8C1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09360" y="1920240"/>
            <a:ext cx="2103120" cy="1463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011680"/>
            <a:ext cx="2011680" cy="1280160"/>
          </a:xfrm>
          <a:prstGeom prst="rect">
            <a:avLst/>
          </a:prstGeom>
          <a:noFill/>
        </p:spPr>
        <p:txBody>
          <a:bodyPr wrap="square">
            <a:spAutoFit/>
          </a:bodyPr>
          <a:lstStyle/>
          <a:p>
            <a:pPr>
              <a:defRPr sz="1200" b="1">
                <a:solidFill>
                  <a:srgbClr val="0284C7"/>
                </a:solidFill>
              </a:defRPr>
            </a:pPr>
            <a:r>
              <a:t>3. Voxel Accumulator</a:t>
            </a:r>
          </a:p>
          <a:p>
            <a:pPr>
              <a:spcBef>
                <a:spcPts val="400"/>
              </a:spcBef>
              <a:defRPr sz="1000">
                <a:solidFill>
                  <a:srgbClr val="475569"/>
                </a:solidFill>
              </a:defRPr>
            </a:pPr>
            <a:r>
              <a:t>• 3D occupancy grid</a:t>
            </a:r>
            <a:br/>
            <a:r>
              <a:t>• Gaussian weight fusion</a:t>
            </a:r>
            <a:br/>
            <a:r>
              <a:t>• Uncertainty tracking</a:t>
            </a:r>
          </a:p>
        </p:txBody>
      </p:sp>
      <p:sp>
        <p:nvSpPr>
          <p:cNvPr id="14" name="Right Arrow 13"/>
          <p:cNvSpPr/>
          <p:nvPr/>
        </p:nvSpPr>
        <p:spPr>
          <a:xfrm>
            <a:off x="8458200" y="2468880"/>
            <a:ext cx="411480" cy="274320"/>
          </a:xfrm>
          <a:prstGeom prst="rightArrow">
            <a:avLst/>
          </a:prstGeom>
          <a:solidFill>
            <a:srgbClr val="8C1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961120" y="1920240"/>
            <a:ext cx="2103120" cy="1463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06840" y="2011680"/>
            <a:ext cx="2011680" cy="1280160"/>
          </a:xfrm>
          <a:prstGeom prst="rect">
            <a:avLst/>
          </a:prstGeom>
          <a:noFill/>
        </p:spPr>
        <p:txBody>
          <a:bodyPr wrap="square">
            <a:spAutoFit/>
          </a:bodyPr>
          <a:lstStyle/>
          <a:p>
            <a:pPr>
              <a:defRPr sz="1200" b="1">
                <a:solidFill>
                  <a:srgbClr val="D97706"/>
                </a:solidFill>
              </a:defRPr>
            </a:pPr>
            <a:r>
              <a:t>4. Active NBV Planner</a:t>
            </a:r>
          </a:p>
          <a:p>
            <a:pPr>
              <a:spcBef>
                <a:spcPts val="400"/>
              </a:spcBef>
              <a:defRPr sz="1000">
                <a:solidFill>
                  <a:srgbClr val="475569"/>
                </a:solidFill>
              </a:defRPr>
            </a:pPr>
            <a:r>
              <a:t>• Submodular gain</a:t>
            </a:r>
            <a:br/>
            <a:r>
              <a:t>• Maximize coverage</a:t>
            </a:r>
            <a:br/>
            <a:r>
              <a:t>• Minimize shadow voids</a:t>
            </a:r>
          </a:p>
        </p:txBody>
      </p:sp>
      <p:sp>
        <p:nvSpPr>
          <p:cNvPr id="17" name="Rounded Rectangle 16"/>
          <p:cNvSpPr/>
          <p:nvPr/>
        </p:nvSpPr>
        <p:spPr>
          <a:xfrm>
            <a:off x="731520" y="3931920"/>
            <a:ext cx="3328416"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069080"/>
            <a:ext cx="3054096" cy="2194560"/>
          </a:xfrm>
          <a:prstGeom prst="rect">
            <a:avLst/>
          </a:prstGeom>
          <a:noFill/>
        </p:spPr>
        <p:txBody>
          <a:bodyPr wrap="square">
            <a:spAutoFit/>
          </a:bodyPr>
          <a:lstStyle/>
          <a:p>
            <a:pPr>
              <a:defRPr sz="1300" b="1">
                <a:solidFill>
                  <a:srgbClr val="8C1D22"/>
                </a:solidFill>
              </a:defRPr>
            </a:pPr>
            <a:r>
              <a:t>Physical Wave Simulation</a:t>
            </a:r>
          </a:p>
          <a:p>
            <a:br/>
            <a:pPr>
              <a:defRPr sz="1100">
                <a:solidFill>
                  <a:srgbClr val="475569"/>
                </a:solidFill>
              </a:defRPr>
            </a:pPr>
            <a:r>
              <a:t>• Why not pre-rendered images?</a:t>
            </a:r>
            <a:br/>
            <a:r>
              <a:t>Real ultrasound exhibits physical wave behaviors that change dynamically with probe tilt and pressure.</a:t>
            </a:r>
          </a:p>
          <a:p>
            <a:br/>
            <a:pPr>
              <a:defRPr sz="1100">
                <a:solidFill>
                  <a:srgbClr val="475569"/>
                </a:solidFill>
              </a:defRPr>
            </a:pPr>
            <a:r>
              <a:t>• GPU PyTorch Layer:</a:t>
            </a:r>
            <a:br/>
            <a:r>
              <a:t>Computes depth-dependent acoustic attenuation, impedance boundary reflections, and Rayleigh speckle noise in parallel.</a:t>
            </a:r>
          </a:p>
        </p:txBody>
      </p:sp>
      <p:sp>
        <p:nvSpPr>
          <p:cNvPr id="19" name="Rounded Rectangle 18"/>
          <p:cNvSpPr/>
          <p:nvPr/>
        </p:nvSpPr>
        <p:spPr>
          <a:xfrm>
            <a:off x="4425696" y="3931920"/>
            <a:ext cx="3328416"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62856" y="4069080"/>
            <a:ext cx="3054096" cy="2194560"/>
          </a:xfrm>
          <a:prstGeom prst="rect">
            <a:avLst/>
          </a:prstGeom>
          <a:noFill/>
        </p:spPr>
        <p:txBody>
          <a:bodyPr wrap="square">
            <a:spAutoFit/>
          </a:bodyPr>
          <a:lstStyle/>
          <a:p>
            <a:pPr>
              <a:defRPr sz="1300" b="1">
                <a:solidFill>
                  <a:srgbClr val="0284C7"/>
                </a:solidFill>
              </a:defRPr>
            </a:pPr>
            <a:r>
              <a:t>Voxel Confidence Fusion</a:t>
            </a:r>
          </a:p>
          <a:p>
            <a:br/>
            <a:pPr>
              <a:defRPr sz="1100">
                <a:solidFill>
                  <a:srgbClr val="475569"/>
                </a:solidFill>
              </a:defRPr>
            </a:pPr>
            <a:r>
              <a:t>• Probabilistic Fusion:</a:t>
            </a:r>
            <a:br/>
            <a:r>
              <a:t>Fuses successive 2D sweeps into a continuous 3D volumetric tensor using Gaussian spatial weighting.</a:t>
            </a:r>
          </a:p>
          <a:p>
            <a:br/>
            <a:pPr>
              <a:defRPr sz="1100">
                <a:solidFill>
                  <a:srgbClr val="475569"/>
                </a:solidFill>
              </a:defRPr>
            </a:pPr>
            <a:r>
              <a:t>• Uncertainty Quantification:</a:t>
            </a:r>
            <a:br/>
            <a:r>
              <a:t>Assigns lower confidence to deeper rays and acoustic shadow regions behind bone or dense tissue.</a:t>
            </a:r>
          </a:p>
        </p:txBody>
      </p:sp>
      <p:sp>
        <p:nvSpPr>
          <p:cNvPr id="21" name="Rounded Rectangle 20"/>
          <p:cNvSpPr/>
          <p:nvPr/>
        </p:nvSpPr>
        <p:spPr>
          <a:xfrm>
            <a:off x="8119872" y="3931920"/>
            <a:ext cx="3328416"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7032" y="4069080"/>
            <a:ext cx="3054096" cy="2194560"/>
          </a:xfrm>
          <a:prstGeom prst="rect">
            <a:avLst/>
          </a:prstGeom>
          <a:noFill/>
        </p:spPr>
        <p:txBody>
          <a:bodyPr wrap="square">
            <a:spAutoFit/>
          </a:bodyPr>
          <a:lstStyle/>
          <a:p>
            <a:pPr>
              <a:defRPr sz="1300" b="1">
                <a:solidFill>
                  <a:srgbClr val="D97706"/>
                </a:solidFill>
              </a:defRPr>
            </a:pPr>
            <a:r>
              <a:t>Active Next-Best-View</a:t>
            </a:r>
          </a:p>
          <a:p>
            <a:br/>
            <a:pPr>
              <a:defRPr sz="1100">
                <a:solidFill>
                  <a:srgbClr val="475569"/>
                </a:solidFill>
              </a:defRPr>
            </a:pPr>
            <a:r>
              <a:t>• Autonomous Path Planning:</a:t>
            </a:r>
            <a:br/>
            <a:r>
              <a:t>Rather than blind raster scanning, the robot dynamically evaluates candidate 6-DoF probe poses.</a:t>
            </a:r>
          </a:p>
          <a:p>
            <a:br/>
            <a:pPr>
              <a:defRPr sz="1100">
                <a:solidFill>
                  <a:srgbClr val="475569"/>
                </a:solidFill>
              </a:defRPr>
            </a:pPr>
            <a:r>
              <a:t>• Information-Theoretic Gain:</a:t>
            </a:r>
            <a:br/>
            <a:r>
              <a:t>Selects the next trajectory that maximizes volumetric entropy reduction while minimizing robot travel 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FEE2E2"/>
          </a:solidFill>
          <a:ln w="12700">
            <a:solidFill>
              <a:srgbClr val="8C1D2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8C1D22"/>
                </a:solidFill>
              </a:defRPr>
            </a:pPr>
            <a:r>
              <a:t>4. TECHNICAL UNDERSTANDING</a:t>
            </a:r>
          </a:p>
        </p:txBody>
      </p:sp>
      <p:sp>
        <p:nvSpPr>
          <p:cNvPr id="4" name="TextBox 3"/>
          <p:cNvSpPr txBox="1"/>
          <p:nvPr/>
        </p:nvSpPr>
        <p:spPr>
          <a:xfrm>
            <a:off x="731520" y="731520"/>
            <a:ext cx="10698480" cy="548640"/>
          </a:xfrm>
          <a:prstGeom prst="rect">
            <a:avLst/>
          </a:prstGeom>
          <a:noFill/>
        </p:spPr>
        <p:txBody>
          <a:bodyPr wrap="square" lIns="0" rIns="0" tIns="0" bIns="0">
            <a:spAutoFit/>
          </a:bodyPr>
          <a:lstStyle/>
          <a:p>
            <a:pPr>
              <a:defRPr sz="2200" b="1">
                <a:solidFill>
                  <a:srgbClr val="0F172A"/>
                </a:solidFill>
              </a:defRPr>
            </a:pPr>
            <a:r>
              <a:t>Architectural Decisions &amp; Engineering Trade-Offs</a:t>
            </a:r>
          </a:p>
          <a:p>
            <a:pPr>
              <a:defRPr sz="1200" b="0">
                <a:solidFill>
                  <a:srgbClr val="475569"/>
                </a:solidFill>
              </a:defRPr>
            </a:pPr>
            <a:r>
              <a:t>Evaluating key design choices, rationale, and answers to fundamental technical questions</a:t>
            </a:r>
          </a:p>
        </p:txBody>
      </p:sp>
      <p:sp>
        <p:nvSpPr>
          <p:cNvPr id="5" name="Rounded Rectangle 4"/>
          <p:cNvSpPr/>
          <p:nvPr/>
        </p:nvSpPr>
        <p:spPr>
          <a:xfrm>
            <a:off x="731520" y="1645920"/>
            <a:ext cx="3328416"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62656" cy="4023360"/>
          </a:xfrm>
          <a:prstGeom prst="rect">
            <a:avLst/>
          </a:prstGeom>
          <a:noFill/>
        </p:spPr>
        <p:txBody>
          <a:bodyPr wrap="square">
            <a:spAutoFit/>
          </a:bodyPr>
          <a:lstStyle/>
          <a:p>
            <a:pPr>
              <a:defRPr sz="1200" b="1">
                <a:solidFill>
                  <a:srgbClr val="8C1D22"/>
                </a:solidFill>
              </a:defRPr>
            </a:pPr>
            <a:r>
              <a:t>DECISION 1</a:t>
            </a:r>
          </a:p>
          <a:p>
            <a:pPr>
              <a:spcBef>
                <a:spcPts val="400"/>
              </a:spcBef>
              <a:defRPr sz="1600" b="1">
                <a:solidFill>
                  <a:srgbClr val="0F172A"/>
                </a:solidFill>
              </a:defRPr>
            </a:pPr>
            <a:r>
              <a:t>OpenIGTLink vs. ROS2</a:t>
            </a:r>
          </a:p>
          <a:p>
            <a:br/>
            <a:pPr>
              <a:defRPr sz="1100">
                <a:solidFill>
                  <a:srgbClr val="475569"/>
                </a:solidFill>
              </a:defRPr>
            </a:pPr>
            <a:r>
              <a:t>• The Trade-Off:</a:t>
            </a:r>
            <a:br/>
            <a:r>
              <a:t>ROS2 provides great tooling for general robotics, but its DDS middleware introduces significant latency, complex cross-compilation, and OS dependency locks.</a:t>
            </a:r>
          </a:p>
          <a:p>
            <a:br/>
            <a:pPr>
              <a:defRPr sz="1100">
                <a:solidFill>
                  <a:srgbClr val="1E293B"/>
                </a:solidFill>
              </a:defRPr>
            </a:pPr>
            <a:r>
              <a:t>• Why OpenIGTLink?</a:t>
            </a:r>
            <a:br/>
            <a:r>
              <a:t>1. Native Clinical Standard: 3D Slicer natively parses OpenIGTLink binary messages without intermediate bridges.</a:t>
            </a:r>
          </a:p>
          <a:p>
            <a:br/>
            <a:pPr>
              <a:defRPr sz="1100">
                <a:solidFill>
                  <a:srgbClr val="1E293B"/>
                </a:solidFill>
              </a:defRPr>
            </a:pPr>
            <a:r>
              <a:t>2. Sub-Millisecond Jitter: Direct TCP binary sockets eliminate serialization bottlenecks during 1000 Hz physics loops.</a:t>
            </a:r>
          </a:p>
        </p:txBody>
      </p:sp>
      <p:sp>
        <p:nvSpPr>
          <p:cNvPr id="7" name="Rounded Rectangle 6"/>
          <p:cNvSpPr/>
          <p:nvPr/>
        </p:nvSpPr>
        <p:spPr>
          <a:xfrm>
            <a:off x="4425696" y="1645920"/>
            <a:ext cx="3328416"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8576" y="1828800"/>
            <a:ext cx="2962656" cy="4023360"/>
          </a:xfrm>
          <a:prstGeom prst="rect">
            <a:avLst/>
          </a:prstGeom>
          <a:noFill/>
        </p:spPr>
        <p:txBody>
          <a:bodyPr wrap="square">
            <a:spAutoFit/>
          </a:bodyPr>
          <a:lstStyle/>
          <a:p>
            <a:pPr>
              <a:defRPr sz="1200" b="1">
                <a:solidFill>
                  <a:srgbClr val="0284C7"/>
                </a:solidFill>
              </a:defRPr>
            </a:pPr>
            <a:r>
              <a:t>DECISION 2</a:t>
            </a:r>
          </a:p>
          <a:p>
            <a:pPr>
              <a:spcBef>
                <a:spcPts val="400"/>
              </a:spcBef>
              <a:defRPr sz="1600" b="1">
                <a:solidFill>
                  <a:srgbClr val="0F172A"/>
                </a:solidFill>
              </a:defRPr>
            </a:pPr>
            <a:r>
              <a:t>GPU Acoustics vs. Neural Rendering</a:t>
            </a:r>
          </a:p>
          <a:p>
            <a:br/>
            <a:pPr>
              <a:defRPr sz="1100">
                <a:solidFill>
                  <a:srgbClr val="475569"/>
                </a:solidFill>
              </a:defRPr>
            </a:pPr>
            <a:r>
              <a:t>• The Trade-Off:</a:t>
            </a:r>
            <a:br/>
            <a:r>
              <a:t>Neural Radiance Fields (NeRFs) and diffusion generators produce photorealistic textures but suffer from hallucination and require hours of pre-training per patient scan.</a:t>
            </a:r>
          </a:p>
          <a:p>
            <a:br/>
            <a:pPr>
              <a:defRPr sz="1100">
                <a:solidFill>
                  <a:srgbClr val="1E293B"/>
                </a:solidFill>
              </a:defRPr>
            </a:pPr>
            <a:r>
              <a:t>• Why Model-Based GPU Physics?</a:t>
            </a:r>
            <a:br/>
            <a:r>
              <a:t>1. Instant Generalization: Runs zero-shot on ANY new patient CT scan in milliseconds via PyTorch tensor slicing.</a:t>
            </a:r>
          </a:p>
          <a:p>
            <a:br/>
            <a:pPr>
              <a:defRPr sz="1100">
                <a:solidFill>
                  <a:srgbClr val="1E293B"/>
                </a:solidFill>
              </a:defRPr>
            </a:pPr>
            <a:r>
              <a:t>2. Strict Physical Validity: Acoustic wave attenuation and acoustic shadows are mathematically exact rather than hallucinated.</a:t>
            </a:r>
          </a:p>
        </p:txBody>
      </p:sp>
      <p:sp>
        <p:nvSpPr>
          <p:cNvPr id="9" name="Rounded Rectangle 8"/>
          <p:cNvSpPr/>
          <p:nvPr/>
        </p:nvSpPr>
        <p:spPr>
          <a:xfrm>
            <a:off x="8119872" y="1645920"/>
            <a:ext cx="3328416"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1828800"/>
            <a:ext cx="2962656" cy="4023360"/>
          </a:xfrm>
          <a:prstGeom prst="rect">
            <a:avLst/>
          </a:prstGeom>
          <a:noFill/>
        </p:spPr>
        <p:txBody>
          <a:bodyPr wrap="square">
            <a:spAutoFit/>
          </a:bodyPr>
          <a:lstStyle/>
          <a:p>
            <a:pPr>
              <a:defRPr sz="1200" b="1">
                <a:solidFill>
                  <a:srgbClr val="D97706"/>
                </a:solidFill>
              </a:defRPr>
            </a:pPr>
            <a:r>
              <a:t>DECISION 3</a:t>
            </a:r>
          </a:p>
          <a:p>
            <a:pPr>
              <a:spcBef>
                <a:spcPts val="400"/>
              </a:spcBef>
              <a:defRPr sz="1600" b="1">
                <a:solidFill>
                  <a:srgbClr val="0F172A"/>
                </a:solidFill>
              </a:defRPr>
            </a:pPr>
            <a:r>
              <a:t>Submodular NBV vs. Raster Sweeps</a:t>
            </a:r>
          </a:p>
          <a:p>
            <a:br/>
            <a:pPr>
              <a:defRPr sz="1100">
                <a:solidFill>
                  <a:srgbClr val="475569"/>
                </a:solidFill>
              </a:defRPr>
            </a:pPr>
            <a:r>
              <a:t>• The Trade-Off:</a:t>
            </a:r>
            <a:br/>
            <a:r>
              <a:t>Fixed raster/zigzag sweeping is simple to script but wastes massive time scanning already-observed tissue while missing occluded anatomy.</a:t>
            </a:r>
          </a:p>
          <a:p>
            <a:br/>
            <a:pPr>
              <a:defRPr sz="1100">
                <a:solidFill>
                  <a:srgbClr val="1E293B"/>
                </a:solidFill>
              </a:defRPr>
            </a:pPr>
            <a:r>
              <a:t>• Why Submodular Information Gain?</a:t>
            </a:r>
            <a:br/>
            <a:r>
              <a:t>1. Minimal Scan Duration: Prioritizes views that maximize volumetric entropy reduction.</a:t>
            </a:r>
          </a:p>
          <a:p>
            <a:br/>
            <a:pPr>
              <a:defRPr sz="1100">
                <a:solidFill>
                  <a:srgbClr val="1E293B"/>
                </a:solidFill>
              </a:defRPr>
            </a:pPr>
            <a:r>
              <a:t>2. Shadow Disambiguation: Intelligently tilts the probe around acoustic obstacles (like ribs or bone) to illuminate hidden tissue.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FEE2E2"/>
          </a:solidFill>
          <a:ln w="12700">
            <a:solidFill>
              <a:srgbClr val="8C1D2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8C1D22"/>
                </a:solidFill>
              </a:defRPr>
            </a:pPr>
            <a:r>
              <a:t>5. FUTURE DIRECTION</a:t>
            </a:r>
          </a:p>
        </p:txBody>
      </p:sp>
      <p:sp>
        <p:nvSpPr>
          <p:cNvPr id="4" name="TextBox 3"/>
          <p:cNvSpPr txBox="1"/>
          <p:nvPr/>
        </p:nvSpPr>
        <p:spPr>
          <a:xfrm>
            <a:off x="731520" y="731520"/>
            <a:ext cx="10698480" cy="548640"/>
          </a:xfrm>
          <a:prstGeom prst="rect">
            <a:avLst/>
          </a:prstGeom>
          <a:noFill/>
        </p:spPr>
        <p:txBody>
          <a:bodyPr wrap="square" lIns="0" rIns="0" tIns="0" bIns="0">
            <a:spAutoFit/>
          </a:bodyPr>
          <a:lstStyle/>
          <a:p>
            <a:pPr>
              <a:defRPr sz="2200" b="1">
                <a:solidFill>
                  <a:srgbClr val="0F172A"/>
                </a:solidFill>
              </a:defRPr>
            </a:pPr>
            <a:r>
              <a:t>Policy Learning &amp; Sim-to-Real Roadmap</a:t>
            </a:r>
          </a:p>
          <a:p>
            <a:pPr>
              <a:defRPr sz="1200" b="0">
                <a:solidFill>
                  <a:srgbClr val="475569"/>
                </a:solidFill>
              </a:defRPr>
            </a:pPr>
            <a:r>
              <a:t>Next steps for the second half of the project: VLA integration, policy benchmarking, and phantom transfer</a:t>
            </a:r>
          </a:p>
        </p:txBody>
      </p:sp>
      <p:sp>
        <p:nvSpPr>
          <p:cNvPr id="5" name="Rounded Rectangle 4"/>
          <p:cNvSpPr/>
          <p:nvPr/>
        </p:nvSpPr>
        <p:spPr>
          <a:xfrm>
            <a:off x="731520" y="1645920"/>
            <a:ext cx="3328416"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62656" cy="4023360"/>
          </a:xfrm>
          <a:prstGeom prst="rect">
            <a:avLst/>
          </a:prstGeom>
          <a:noFill/>
        </p:spPr>
        <p:txBody>
          <a:bodyPr wrap="square">
            <a:spAutoFit/>
          </a:bodyPr>
          <a:lstStyle/>
          <a:p>
            <a:pPr>
              <a:defRPr sz="1200" b="1">
                <a:solidFill>
                  <a:srgbClr val="8C1D22"/>
                </a:solidFill>
              </a:defRPr>
            </a:pPr>
            <a:r>
              <a:t>PHASE 1 (WEEKS 9-11)</a:t>
            </a:r>
          </a:p>
          <a:p>
            <a:pPr>
              <a:spcBef>
                <a:spcPts val="400"/>
              </a:spcBef>
              <a:defRPr sz="1600" b="1">
                <a:solidFill>
                  <a:srgbClr val="0F172A"/>
                </a:solidFill>
              </a:defRPr>
            </a:pPr>
            <a:r>
              <a:t>Multimodal VLA &amp; Policy Learning</a:t>
            </a:r>
          </a:p>
          <a:p>
            <a:br/>
            <a:pPr>
              <a:defRPr sz="1100">
                <a:solidFill>
                  <a:srgbClr val="475569"/>
                </a:solidFill>
              </a:defRPr>
            </a:pPr>
            <a:r>
              <a:t>• Action-Chunking Diffusion Policies:</a:t>
            </a:r>
            <a:br/>
            <a:r>
              <a:t>Deploy Continuous Flow Matching (CFM) and diffusion action policies for smooth 6-DoF probe velocity generation.</a:t>
            </a:r>
          </a:p>
          <a:p>
            <a:br/>
            <a:pPr>
              <a:defRPr sz="1100">
                <a:solidFill>
                  <a:srgbClr val="475569"/>
                </a:solidFill>
              </a:defRPr>
            </a:pPr>
            <a:r>
              <a:t>• Multimodal Conditioning:</a:t>
            </a:r>
            <a:br/>
            <a:r>
              <a:t>Condition the policy on synthesized B-mode ultrasound, contact force feedback, and natural language clinical goals (e.g., 'Reconstruct hepatic vein').</a:t>
            </a:r>
          </a:p>
        </p:txBody>
      </p:sp>
      <p:sp>
        <p:nvSpPr>
          <p:cNvPr id="7" name="Rounded Rectangle 6"/>
          <p:cNvSpPr/>
          <p:nvPr/>
        </p:nvSpPr>
        <p:spPr>
          <a:xfrm>
            <a:off x="4425696" y="1645920"/>
            <a:ext cx="3328416"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8576" y="1828800"/>
            <a:ext cx="2962656" cy="4023360"/>
          </a:xfrm>
          <a:prstGeom prst="rect">
            <a:avLst/>
          </a:prstGeom>
          <a:noFill/>
        </p:spPr>
        <p:txBody>
          <a:bodyPr wrap="square">
            <a:spAutoFit/>
          </a:bodyPr>
          <a:lstStyle/>
          <a:p>
            <a:pPr>
              <a:defRPr sz="1200" b="1">
                <a:solidFill>
                  <a:srgbClr val="0284C7"/>
                </a:solidFill>
              </a:defRPr>
            </a:pPr>
            <a:r>
              <a:t>PHASE 2 (WEEKS 12-14)</a:t>
            </a:r>
          </a:p>
          <a:p>
            <a:pPr>
              <a:spcBef>
                <a:spcPts val="400"/>
              </a:spcBef>
              <a:defRPr sz="1600" b="1">
                <a:solidFill>
                  <a:srgbClr val="0F172A"/>
                </a:solidFill>
              </a:defRPr>
            </a:pPr>
            <a:r>
              <a:t>Benchmarking &amp; Evaluation Suite</a:t>
            </a:r>
          </a:p>
          <a:p>
            <a:br/>
            <a:pPr>
              <a:defRPr sz="1100">
                <a:solidFill>
                  <a:srgbClr val="475569"/>
                </a:solidFill>
              </a:defRPr>
            </a:pPr>
            <a:r>
              <a:t>• Standardized Benchmark Tasks:</a:t>
            </a:r>
            <a:br/>
            <a:r>
              <a:t>Evaluate policy performance across a dataset of 20+ diverse patient abdominal and cardiac CT scans.</a:t>
            </a:r>
          </a:p>
          <a:p>
            <a:br/>
            <a:pPr>
              <a:defRPr sz="1100">
                <a:solidFill>
                  <a:srgbClr val="475569"/>
                </a:solidFill>
              </a:defRPr>
            </a:pPr>
            <a:r>
              <a:t>• Evaluation Metrics:</a:t>
            </a:r>
            <a:br/>
            <a:r>
              <a:t>Measure volumetric coverage percentage, acoustic shadow volume, total scan trajectory length, and contact force boundary adherence.</a:t>
            </a:r>
          </a:p>
        </p:txBody>
      </p:sp>
      <p:sp>
        <p:nvSpPr>
          <p:cNvPr id="9" name="Rounded Rectangle 8"/>
          <p:cNvSpPr/>
          <p:nvPr/>
        </p:nvSpPr>
        <p:spPr>
          <a:xfrm>
            <a:off x="8119872" y="1645920"/>
            <a:ext cx="3328416"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1828800"/>
            <a:ext cx="2962656" cy="4023360"/>
          </a:xfrm>
          <a:prstGeom prst="rect">
            <a:avLst/>
          </a:prstGeom>
          <a:noFill/>
        </p:spPr>
        <p:txBody>
          <a:bodyPr wrap="square">
            <a:spAutoFit/>
          </a:bodyPr>
          <a:lstStyle/>
          <a:p>
            <a:pPr>
              <a:defRPr sz="1200" b="1">
                <a:solidFill>
                  <a:srgbClr val="D97706"/>
                </a:solidFill>
              </a:defRPr>
            </a:pPr>
            <a:r>
              <a:t>PHASE 3 (WEEKS 15-16)</a:t>
            </a:r>
          </a:p>
          <a:p>
            <a:pPr>
              <a:spcBef>
                <a:spcPts val="400"/>
              </a:spcBef>
              <a:defRPr sz="1600" b="1">
                <a:solidFill>
                  <a:srgbClr val="0F172A"/>
                </a:solidFill>
              </a:defRPr>
            </a:pPr>
            <a:r>
              <a:t>Sim-to-Real Hardware Transfer</a:t>
            </a:r>
          </a:p>
          <a:p>
            <a:br/>
            <a:pPr>
              <a:defRPr sz="1100">
                <a:solidFill>
                  <a:srgbClr val="475569"/>
                </a:solidFill>
              </a:defRPr>
            </a:pPr>
            <a:r>
              <a:t>• Phantom Validation:</a:t>
            </a:r>
            <a:br/>
            <a:r>
              <a:t>Deploy the trained autonomous scanning policy onto a physical 7-DoF robotic manipulator scanning an ultrasound phantom.</a:t>
            </a:r>
          </a:p>
          <a:p>
            <a:br/>
            <a:pPr>
              <a:defRPr sz="1100">
                <a:solidFill>
                  <a:srgbClr val="475569"/>
                </a:solidFill>
              </a:defRPr>
            </a:pPr>
            <a:r>
              <a:t>• Domain Randomization:</a:t>
            </a:r>
            <a:br/>
            <a:r>
              <a:t>Apply acoustic impedance and friction randomization during simulation training to achieve zero-shot transfer.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FEE2E2"/>
          </a:solidFill>
          <a:ln w="12700">
            <a:solidFill>
              <a:srgbClr val="8C1D2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8C1D22"/>
                </a:solidFill>
              </a:defRPr>
            </a:pPr>
            <a:r>
              <a:t>CONCLUSION</a:t>
            </a:r>
          </a:p>
        </p:txBody>
      </p:sp>
      <p:sp>
        <p:nvSpPr>
          <p:cNvPr id="4" name="TextBox 3"/>
          <p:cNvSpPr txBox="1"/>
          <p:nvPr/>
        </p:nvSpPr>
        <p:spPr>
          <a:xfrm>
            <a:off x="731520" y="731520"/>
            <a:ext cx="10698480" cy="548640"/>
          </a:xfrm>
          <a:prstGeom prst="rect">
            <a:avLst/>
          </a:prstGeom>
          <a:noFill/>
        </p:spPr>
        <p:txBody>
          <a:bodyPr wrap="square" lIns="0" rIns="0" tIns="0" bIns="0">
            <a:spAutoFit/>
          </a:bodyPr>
          <a:lstStyle/>
          <a:p>
            <a:pPr>
              <a:defRPr sz="2200" b="1">
                <a:solidFill>
                  <a:srgbClr val="0F172A"/>
                </a:solidFill>
              </a:defRPr>
            </a:pPr>
            <a:r>
              <a:t>Project Summary &amp; Key Takeaways</a:t>
            </a:r>
          </a:p>
          <a:p>
            <a:pPr>
              <a:defRPr sz="1200" b="0">
                <a:solidFill>
                  <a:srgbClr val="475569"/>
                </a:solidFill>
              </a:defRPr>
            </a:pPr>
            <a:r>
              <a:t>Recap of technical accomplishments, project impact, and readiness for AI benchmarking</a:t>
            </a:r>
          </a:p>
        </p:txBody>
      </p:sp>
      <p:sp>
        <p:nvSpPr>
          <p:cNvPr id="5" name="Rounded Rectangle 4"/>
          <p:cNvSpPr/>
          <p:nvPr/>
        </p:nvSpPr>
        <p:spPr>
          <a:xfrm>
            <a:off x="731520" y="1645920"/>
            <a:ext cx="3328416"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62656" cy="2743200"/>
          </a:xfrm>
          <a:prstGeom prst="rect">
            <a:avLst/>
          </a:prstGeom>
          <a:noFill/>
        </p:spPr>
        <p:txBody>
          <a:bodyPr wrap="square">
            <a:spAutoFit/>
          </a:bodyPr>
          <a:lstStyle/>
          <a:p>
            <a:pPr>
              <a:defRPr sz="1200" b="1">
                <a:solidFill>
                  <a:srgbClr val="8C1D22"/>
                </a:solidFill>
              </a:defRPr>
            </a:pPr>
            <a:r>
              <a:t>CORE PLATFORM BUILT</a:t>
            </a:r>
          </a:p>
          <a:p>
            <a:pPr>
              <a:spcBef>
                <a:spcPts val="400"/>
              </a:spcBef>
              <a:defRPr sz="1600" b="1">
                <a:solidFill>
                  <a:srgbClr val="0F172A"/>
                </a:solidFill>
              </a:defRPr>
            </a:pPr>
            <a:r>
              <a:t>Slicer Surgical Bridge</a:t>
            </a:r>
          </a:p>
          <a:p>
            <a:br/>
            <a:pPr>
              <a:defRPr sz="1100">
                <a:solidFill>
                  <a:srgbClr val="475569"/>
                </a:solidFill>
              </a:defRPr>
            </a:pPr>
            <a:r>
              <a:t>• Functional OpenIGTLink binary link connecting 1000 Hz PyBullet physics to 3D Slicer at 60 FPS.</a:t>
            </a:r>
            <a:br/>
            <a:r>
              <a:t>• Real-time virtual keep-out safety fixtures preventing patient harm.</a:t>
            </a:r>
          </a:p>
        </p:txBody>
      </p:sp>
      <p:sp>
        <p:nvSpPr>
          <p:cNvPr id="7" name="Rounded Rectangle 6"/>
          <p:cNvSpPr/>
          <p:nvPr/>
        </p:nvSpPr>
        <p:spPr>
          <a:xfrm>
            <a:off x="4425696" y="1645920"/>
            <a:ext cx="3328416"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8576" y="1828800"/>
            <a:ext cx="2962656" cy="2743200"/>
          </a:xfrm>
          <a:prstGeom prst="rect">
            <a:avLst/>
          </a:prstGeom>
          <a:noFill/>
        </p:spPr>
        <p:txBody>
          <a:bodyPr wrap="square">
            <a:spAutoFit/>
          </a:bodyPr>
          <a:lstStyle/>
          <a:p>
            <a:pPr>
              <a:defRPr sz="1200" b="1">
                <a:solidFill>
                  <a:srgbClr val="0284C7"/>
                </a:solidFill>
              </a:defRPr>
            </a:pPr>
            <a:r>
              <a:t>PHYSICAL WAVE SYNTHESIS</a:t>
            </a:r>
          </a:p>
          <a:p>
            <a:pPr>
              <a:spcBef>
                <a:spcPts val="400"/>
              </a:spcBef>
              <a:defRPr sz="1600" b="1">
                <a:solidFill>
                  <a:srgbClr val="0F172A"/>
                </a:solidFill>
              </a:defRPr>
            </a:pPr>
            <a:r>
              <a:t>3D Reconstruction Pipeline</a:t>
            </a:r>
          </a:p>
          <a:p>
            <a:br/>
            <a:pPr>
              <a:defRPr sz="1100">
                <a:solidFill>
                  <a:srgbClr val="475569"/>
                </a:solidFill>
              </a:defRPr>
            </a:pPr>
            <a:r>
              <a:t>• GPU PyTorch reslicing with physical acoustic attenuation, impedance reflections, and speckle.</a:t>
            </a:r>
            <a:br/>
            <a:r>
              <a:t>• Active submodular Next-Best-View planning to eliminate acoustic shadows.</a:t>
            </a:r>
          </a:p>
        </p:txBody>
      </p:sp>
      <p:sp>
        <p:nvSpPr>
          <p:cNvPr id="9" name="Rounded Rectangle 8"/>
          <p:cNvSpPr/>
          <p:nvPr/>
        </p:nvSpPr>
        <p:spPr>
          <a:xfrm>
            <a:off x="8119872" y="1645920"/>
            <a:ext cx="3328416"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1828800"/>
            <a:ext cx="2962656" cy="2743200"/>
          </a:xfrm>
          <a:prstGeom prst="rect">
            <a:avLst/>
          </a:prstGeom>
          <a:noFill/>
        </p:spPr>
        <p:txBody>
          <a:bodyPr wrap="square">
            <a:spAutoFit/>
          </a:bodyPr>
          <a:lstStyle/>
          <a:p>
            <a:pPr>
              <a:defRPr sz="1200" b="1">
                <a:solidFill>
                  <a:srgbClr val="D97706"/>
                </a:solidFill>
              </a:defRPr>
            </a:pPr>
            <a:r>
              <a:t>AI BENCHMARK READY</a:t>
            </a:r>
          </a:p>
          <a:p>
            <a:pPr>
              <a:spcBef>
                <a:spcPts val="400"/>
              </a:spcBef>
              <a:defRPr sz="1600" b="1">
                <a:solidFill>
                  <a:srgbClr val="0F172A"/>
                </a:solidFill>
              </a:defRPr>
            </a:pPr>
            <a:r>
              <a:t>Sim-to-Real Foundation</a:t>
            </a:r>
          </a:p>
          <a:p>
            <a:br/>
            <a:pPr>
              <a:defRPr sz="1100">
                <a:solidFill>
                  <a:srgbClr val="475569"/>
                </a:solidFill>
              </a:defRPr>
            </a:pPr>
            <a:r>
              <a:t>• Clean APIs ready for training Vision-Language-Action policies and diffusion controllers.</a:t>
            </a:r>
            <a:br/>
            <a:r>
              <a:t>• A solid, reproducible foundation for final evaluation and sim-to-real transfer.</a:t>
            </a:r>
          </a:p>
        </p:txBody>
      </p:sp>
      <p:sp>
        <p:nvSpPr>
          <p:cNvPr id="11" name="Rounded Rectangle 10"/>
          <p:cNvSpPr/>
          <p:nvPr/>
        </p:nvSpPr>
        <p:spPr>
          <a:xfrm>
            <a:off x="731520" y="4937760"/>
            <a:ext cx="10728655" cy="137160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029200"/>
            <a:ext cx="10149840" cy="1188720"/>
          </a:xfrm>
          <a:prstGeom prst="rect">
            <a:avLst/>
          </a:prstGeom>
          <a:noFill/>
        </p:spPr>
        <p:txBody>
          <a:bodyPr wrap="square">
            <a:spAutoFit/>
          </a:bodyPr>
          <a:lstStyle/>
          <a:p>
            <a:pPr algn="ctr">
              <a:defRPr sz="1600" b="1">
                <a:solidFill>
                  <a:srgbClr val="8C1D22"/>
                </a:solidFill>
              </a:defRPr>
            </a:pPr>
            <a:r>
              <a:t>THANK YOU  |  QUESTIONS &amp; DISCUSSION</a:t>
            </a:r>
          </a:p>
          <a:p>
            <a:pPr algn="ctr">
              <a:spcBef>
                <a:spcPts val="600"/>
              </a:spcBef>
              <a:defRPr sz="1200">
                <a:solidFill>
                  <a:srgbClr val="0F172A"/>
                </a:solidFill>
              </a:defRPr>
            </a:pPr>
            <a:r>
              <a:t>Candidate: Rishang Yadav (B23173)   |   Supervisor: Dr. Deepak Raina</a:t>
            </a:r>
            <a:br/>
            <a:r>
              <a:t>School of Computing and Electrical Engineering (SCEE), IIT Mandi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